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opener for the whole set. The single idea: nobody writes the price. A fleet of bots trades continuously across a real matcher, and the tape is whatever those orders produce when they cross. A human logs in and trades into that same living book. The next four slides earn that claim, then hand off to the seven explainers.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cohorts are MarketMaker / TrendFollower / MeanReversion / Scalper / Random, plus small Arbitrage + house cohorts — each sets the market's loop gain. 70 books = 20 stocks dual-listed USD+EUR, 15 USD-only, 15 EUR-only. CK=0 is the HARD invariant: per currency Σ ΔTotalBalance = 0, per stock Σ ΔQuantity = 0, checked live by ConservationProbe before every settle write. One non-zero hit fails a soak. These numbers exist to say: this is a running system, not a chart that plays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CLIENT→API→ENTRY→EXEC→MATCH→SETTLE→DB is the backbone of the entire doc set and slide set. Deck 1 (Architecture) spans the whole strip; each later deck zooms into its stage. This is the 'you are here' motif repeated across every section, so a viewer always knows where the current story sits in an order's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set is seven core docs, all live: 1 ARCHITECTURE (map), 2 BOT_MECHANICS (the ~20k-bot loop, sentiment/mood/Fear&amp;Greed signals, realism scorecard), 3 ENGINE_MECHANICS (Entry→Execution→Matching→Settlement + the CK=0 proof), 4 DATA_LAYER (EF schema vs runtime Dapper, in-memory caches, retention), 5 API_REFERENCE (REST controllers + SignalR MarketHub contract), 6 SERVER_HOST_AND_OPS (Program.cs composition, hosted loops, Docker/prod), 7 CLIENT_STRUCTURE (the MAUI head: DI, Shell nav, MVVM, hub client). The four cards compress the tail four into one so the menu stays at four tiles; verbally name all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beat of the trailer and the whole thesis. There is no price variable being assigned anywhere — the number on the tape is purely the output of the matching engine as orders cross, at the maker's resting price by price-time priority. That taker-consumes-maker asymmetry is the only reason the mid moves. Hand off to deck 1, Architecture: now let's see the machine that makes it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deck 1 of 7. It's the map: the projects, one order's journey, the shared seam, and the conservation invariant. Every other deck zooms into one stage of the pipeline shown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CLIENT→API→ENTRY→EXEC→MATCH→SETTLE→DB is the backbone. Architecture spans the whole strip; each later deck lights just its zone. Bots feed the same book from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bots exist so the market is never empty. A person signs up, gets seed cash, and trades into real bot flow. The realism (correlation, fat tails, Fear/Greed) is what makes the tape believable — that's BOT_MECHANICS.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named migration: EF schema migrations (Server/Data/Migrations) vs the SQLite→Postgres data-copy tool (KieshStockExchange.Migration). Keep them apart. The client head targets net9.0-windows; Shared targets net9.0.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product's spine. The bot loop submits through the same OrderExecutionService via batch routes, so bot flow and human flow converge at one book. SignalR keeps every screen live after the REST call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Phase-3 client/server split, the old in-process engine was removed without touching a single ViewModel — only the DI registration changed, because both sides program against the same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Reservations hold value in flight: Fund.ReservedBalance for buys, Position.ReservedQuantity for sells/shorts. Conservation is checked on money (per currency) and shares (per stock). This gets its full ledger reveal in the ENGINE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deck 2. The natural verbal bridge: we've seen the pipeline; now let's meet the 20,000 traders that keep it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deck 2 of 7 and the heart of the product. Price is NOT scripted — it emerges from a real order book as ~20k bots submit real limit/market orders through the same matcher a human uses. The doc's §0 is the kernel: with 20k independent draws the imbalance FRACTION goes to zero (law of large numbers), so the tape would be dead. Everything else — inertia, herding, shared sentiment, co-fire, Fear/Greed — exists to correlate those draws so imbalance scales with N instead of √N. Keep that frame; nothing here makes sense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lives at ENTRY: the bots are the source of order flow that everything downstream (EXEC→MATCH→SETTLE) processes. The bot loop submits through the very same OrderExecutionService a human order uses. Code lives in KieshStockExchange.Server/Services/BackgroundServices/ and its Helpers/.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LLN: N independent ±1 bets net to order √N, so the imbalance FRACTION is ~1/√N ≈ 0 for N=20k. This is why a per-bot buyProb tilt is nearly inert on realized price — and why 'correlating the draws' is the entire game. Correlate a fraction of bots (shared side) and net imbalance scales with N·(correlated fraction) instead of √N. That single fact is why a hold-time or herding lever moves a PRICE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sentence the whole section turns on. Independence is the enemy; the mechanisms in §2 of the doc (inertia, herding, shared sentiment rings, co-fire, Fear/Greed coupling) are all ways to inject correlation into otherwise-independent decisions. This is the pivot from 'the problem' (previous slide) to 'the machinery'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taker (marketable/market order) crosses the spread and CONSUMES resting depth → moves the mid. A maker (resting limit) ADDS depth and waits → does not move the mid. This asymmetry is the doc's central mechanism. A buyProb tilt that produces mostly resting limits is 'book-absorbed' — it changes queue depth, not price. That's why shared sentiment alone caps cross-stock correlation ~0.08: the tilt lands as limits and gets swallowed. Anchors (value/recent/fundamental) are a SEPARATE upstream damper on the tilt — not what absorbs the limit; the book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step 4: feed a directional signal to taker flow three ways and get three realism fixes from one mechanism. Per-stock momentum → ret_acf toward 0 (§2.2/2.4). A SHARED taker burst → cross-stock correlation (§2.7 co-fire, §2.10 mood coupling). A down-skewed GLOBAL taker shock → fat left tails (§2.7 shock/jumps). Targets: ret_acf −0.1 (structural ceiling ~−0.5), pairwise corr aspirational ≥0.2 (bot-lever ceiling ~0.13 factorR²), kurtosis ≥4. The gold accent marks this as the through-line lever, not a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bot market is one single-threaded loop (AiTradeService.RunLoopAsync). All state — context, accounts cache, sentiment/mood/activity/fundamental services — is mutated only here with NO locks; single-threaded is a hard invariant. Per tick, 14 phases in strict order: CheckTimers (advance external state before any bot reads it) → Collect (gate each bot: enabled, burst, quiet, activity, stagger, interval, trade-prob draw, decide) → batch submit/match/settle → advanced route → the cap-exempt cohorts (arb/MM/rotator/conviction/jumps) → RecordTickLatency → scaler → reconcile → maintenance. TradeIntervalMs default 0 ⇒ 1s (prod may run ~250ms). BotScalerService moves ActiveBotCap toward a 0.60 target load so the box self-tunes online-bot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AiBotDecisionService.ComputeOrderAsync: given (ctx, user, currency) produce one Order or null. Order of resolution: co-fire branch first (above any RNG), then chaser branch (draw-free substitution into a news shock), then ChooseOrderType builds buyProb = homeostatic base (BuyBias + cash-reserve shift) + directional (SentimentDynamics slope model or legacy momentum+sentiment, + herding tilt) + anchors (value/recent/fundamental). Then ChooseStockId, size (power-law + rare block), limit tier × DecisionDistanceMult × composition seam, and the hard IsOverBand price-band veto. effectiveUseMarket decides taker vs limit separately: base UseMarketProb × MarketProbMult + AggressionBoost×|directional| + reflexive mood coupling. Every v2 lever off ⇒ byte-identical to the original additive line. Bots read the SMOOTHED price so they don't counter-trade their own 1-min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enum AiStrategy { MarketMaker=0, TrendFollower=1, MeanReversion=2, Random=3, Scalper=4, Arbitrage=5, MarketMakerHouse=6, Rotator=7, Conviction=8 }. In-fleet (normal path): MM posts two-sided quotes; TrendFollower amplifies momentum; MeanReversion damps; Random is homeostatic noise; Scalper is fast-slope conviction + extra taker. Dedicated RunAsync passes (phases 5-8, master-gated): Arbitrage couples USD/EUR books and funds the house; MarketMakerHouse quotes continuously and widens in fear; Rotator chases the price-vs-bank-estimate gap (turnover-bounded ~100%-win rebalancer); Conviction = realistic discretionary risk-takers (win-rate ≪100%) that add the panic fear-bid. All cohorts iterate ascending AiUserId, consume no RNG, run two batch passes (SELLS-before-BUYS) ⇒ Σ buys ≤ available cash ⇒ CK-safe.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MarketMoodService. Per stock mood = 50 + 50·tanh(WMom·momZ + WBreadth·(2b−1) − WVol·volZ + WFlow·flowZ + WSent·sentiment); momZ = trend-vs-anchor ln(price/EMA) ÷ POOLED cross-sectional σ (pooled not own-σ — in a mean-reverting sim own-σ would misread a rising stock as fear). Global mood = cross-stock mean, at three horizon bands (Fast/Mid/Slow). Reflexive taker coupling: lagged 5-min global mood scales each bot's taker share (asymmetric-V — greed AND fear both raise activity), bounded by a cap and JointTakerCapMult, with a kill-switch. MMWiden = in fear the MM cohort widens spread and shrinks size (elevator-down amplifier); Conviction fear-bid = smart money buys panic (the absorber that keeps fear controlled). latch=0 (mood not pegged &lt;30/&gt;70) is the gate that proves the absorber holds. Base appsettings ships every flag false (byte-identical); prod enables via docker env. LIVE + healthy on prod.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co-fire = the banked correlation lever. On a market-wide pulse, a cohort fires ONE same-sign marketable order same-tick across hash-spread stocks (GlobalCoFireNotionalFrac caps notional; resolved FIRST in ComputeOrderAsync, above any RNG, so off is byte-identical). Why it works where shared sentiment failed: sentiment lands as resting limits and is book-absorbed (caps corr ~0.08), but a SIMULTANEOUS shared taker burst prints through levels. Validated: +0.037 factorR² at 10 min across two clean 2h A/Bs, ~doubling 5-10min cross-stock correlation. Cost = deeper CORRELATED crashes (the arc's intended character trade-off). Live on prod since 2026-07-16 at GlobalCoFireNotionalFrac 0.10 / GlobalCoFireFraction 0.15, council-approved and reversible. Cross-stock corr is judged on prod over days, not a 45m soak.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deck 3. Verbal bridge: we've seen WHO places the orders and WHY the emergent price moves; now follow one of those orders into the engine that matches and settles it, and see the conservation invariant proved. CK=0 always: every bot and cohort routes through the same reserve→match→settle engine — that's the seam into the ENGINE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3 of 7. Where deck 1 mapped the whole product and deck 2 covered WHO places orders and why, this deck covers WHAT happens to one order after it's placed. The spine of the section is a single worked limit-buy trace (ENGINE_MECHANICS §1.5): reserve 253.00, print at the maker's 25.25, release the 0.50 over-reservation, prove Σ Δ = 0. Everything else is machinery around that. Engine code lives under KieshStockExchange.Server/Services/MarketEngineServices/, matcher+settlement helpers in its Helpers/ and Settlement/ subfolders; models (Order/Fund/Position) in KieshStockExchange.Shared/Models/.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 zone is ENTRY→EXEC→MATCH→SETTLE — the middle of the pipeline. CLIENT/API (deck 1's split) feed it; DB (deck's data layer) is where settlement lands. Order Entry = the single public write-surface; Execution = sequencing + transaction boundaries; Matching = the in-memory cross; Settlement = where money and shares actually move and where CK=0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OrderEntryService → OrderExecutionService → MatchingEngine → SettlementEngine. Entry never touches the book and never reserves. Execution does not match and does not move money — it sequences the two that do, and owns the tx boundaries and lock order. The matcher is a pure in-memory function over one (stockId, currency) book. Settlement brackets matching on both sides: its reserve half (OrderSettler) runs pre-match, its consume half (TradeSettler) runs post-match.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Order.Side / Order.Entry / Order.Stop are authoritative; the legacy string vocabulary (LimitBuy, TrueMarketSell) survives only as a read-only OrderType projection for logs. Immutable identity fields (OrderId/UserId/StockId) throw if reassigned; setter invariants reject negative price, out-of-range slippage. ValidateInput checks raw params (no BuyBudget ceiling — the real limit is enforced downstream by the AvailableBalance check), ValidateNew re-checks the constructed object. Ownership is gated here because the engine cancels by orderId and can't tell whose order it is; VerifyOwnershipAsync returns a uniform 'Order not found.' so it never reveals someone else's order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The book lock is held across match and settle and never released between: MatchingEngine.Match mutates the book in memory, and RollbackMatch on a settlement failure assumes the book hasn't moved since. Per-user gates guard each user's shared Fund/Position so two parallel groups settling the same user can't interleave a non-atomic balance write (the historical P2 money-conservation race). Keys sorted inside AcquireUserGatesAsync (funds before positions). Single-order path commits two txs per order (reserve+insert, then match+settle) — fine for humans, ruinous at 20k-bot rate, which is the entire reason the batch path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is two price-ordered maps (buy inverted-comparer highest-bid-first, sell ascending lowest-ask-first), each price level a LinkedList time-queue = price-time priority. The matcher is handed a taker + a book and walks the opposite side; taker.UserId excludes self-orders (no self-trades). A taker bigger than the touch sweeps multiple levels, printing one Transaction per maker at progressively worse prices. Trade price = maker.Price. A crossing limit acts as a taker for its marketable portion then rests its remainder. MidReference (Bots:BounceReference, shipped 'mid') stamps a bounce-free reference for the candle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of the §1.5 trace. Settlement's OrderSettler reserves against the DB-backed accounts cache and inserts the row, invoked by OrderExecutionService before the match. RoundMoney(25.30×10)=253.00. Fund.ReservedBalance += 253.00 with TotalBalance unchanged, mirrored onto the order via TakeBuyReservation. The lock-step invariant: Order.CurrentBuyReservation (source of truth) and Fund.ReservedBalance (aggregate) are mutated in the same critical section, always equal. Subsequent same-account orders immediately see the reduced AvailableBalance.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3–4 of the trace. The matcher crosses (25.25 ≤ 25.30) and prints at the maker's price 25.25. notional = RoundMoney(10×25.25) = 252.50. The buyer pays from its own reservation: reservedPortion = min(notional, CurrentBuyReservation) via ConsumeReservedFunds, which drops Reserved AND Total together. The clamp to the order's own reservation is deliberate — a buyer also holding short collateral keeps it in the same ReservedBalance, so a blind consume would eat that collateral. Over-reservation savings = (25.30−25.25)×10 = 0.50, UnreserveFunds'd back to available. Seller: TotalBalance += 252.50 (straight to total, no reservation on the credit side), Quantity −=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of the trace. ConservationProbe sums per-currency ΔTotalBalance and per-stock ΔQuantity against pre-batch snapshots: buyer ΔTotal −252.50 + seller +252.50 = 0; buyer ΔQty +10 + seller −10 = 0. Modulo a sub-cent tolerance (CurrencyHelper.IsEffectivelyZero). Any non-zero net is a LogError naming the currency, the net, and the first trade — the historical 'ConservationProbe negative-delta' signature. Soaks grep for it; a single hit fails the gate. 'CK = 0' means that error line never appears. Then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emotional peak of the section, right after the trace resolves to zero. This is the engine's one HARD invariant (BOT_MECHANICS §1 scorecard). It's why the books never drift no matter how long the fleet trades. The next slide generalizes: two guards enforce it — the cross-row probe and the per-row Postgres CHECK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 The probe REPORTS, it does not enforce — conservation is guaranteed by construction (the reserve model plus coupled buyer/seller deltas mean a non-zero net is an impossible-by-design logic bug, not a recoverable data condition). Committing-with-a-loud-error keeps the offending batch on disk for post-mortem and trips the gate, rather than hiding the root cause in a silent rollback. The DB backstop: CK_Funds_Balance_Invariants (Total≥0 ∧ Reserved≥0 ∧ Reserved≤Total) and CK_Positions_Quantity_Invariants are Postgres CHECKs enforcing per-row legality; the probe enforces cross-row conservation. Distinct: a per-row-legal batch can still leak. The Q7 pre-write scan DOES reject a legal-but-CHECK-violating row via the snapshot-rollback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§3.3/§3.6. Round-2 perf profiling found steady-state cost is the commit, not the matcher/book ops. Single-order path = one commit per order = thousands of fsyncs/sec at 20k-bot rate, which the disk can't sustain. Batch collapses this: Phase 2 = one InsertAllAsync commit for the whole tick's orders (matcher needs real OrderIds first); Phase 3 = one settle tx per (stockId, currency) group, run in parallel under _groupGate (Db:MaxConcurrentGroups, default 24), Postgres MVCC lets disjoint writers commit independently. Cross-group atomicity is intentionally sacrificed — each group is already atomic and the caller reads OrderResult per order. Optional group-commit coalesces a currency's groups into one fsync (§6.3, default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RunInTransactionAsync wraps every multi-table settlement (Orders, Transactions, Positions, Funds, FundTransactions). The plumbing is an AsyncLocal&lt;TxScope&gt; ambient: any code inside the delegate, however deep, enrolls in the same physical connection+transaction with no tx param threaded through the ~40 hand-written Dapper methods. BeginTransactionAsync is re-entrant — when ambient is already set it issues SAVEPOINT and returns a non-root handle (RELEASE / ROLLBACK TO SAVEPOINT), so an inner group unwinds without aborting the outer tx; only the root does a real COMMIT = one fsync. FX: FxRateService is a mean-reverting bounded AR(1) walk (EUR→USD base 1.08); its ConvertSpread (~0.2% round-trip) is both the arbitrage-coupling floor and the house's revenue — the arb cohort's rebalances pay the spread into the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data-layer deck. Verbal bridge: we've watched one order become a conserved fill in memory; now let's follow it onto disk — the Dapper region methods, the AccountsCache, and the retention model that keeps days of 20k-bot trading queryable.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4 of 7. Everything above this layer — the 20k-bot engine, the clients — eventually reads or writes through IDataBaseService, implemented by PgDBService (Server/Services/DataServices/PgDBService*.cs). The interface lives in Shared so the client depends on the same surface. The one thing to internalize: there are two DB stacks and they do different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4 lights only the DB stage — the terminal of the pipeline. But note the full path: OrderEntry→Execution→Matching→Settlement all write through this one layer inside one transaction. §3 (ambient tx) is cross-linked to ENGINE_MECHANICS §6; this deck is the persistence view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EF's OnModelCreating is a compact, migration-diffable description of the schema — ideal for evolving it. But EF's change-tracker + expression-tree translation is overhead the write path can't afford, and settlement needs exact control over multi-row INSERT/UPDATE and ON CONFLICT upserts. KseDbContext is explicitly documented 'Migrations-only — never injected at runtime.' Program.cs also calls ctx.Database.Migrate() at startup via a design-time factory so a host without the EF CLI still converges; a migration failure logs Critical but does NOT boot-loop the host. Assumes single-instance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class is annotated with SQLite attributes — [Table], [PrimaryKey, AutoIncrement], [Indexed], [Column] — left over from the SQLite era. Neither stack reads them: EF maps via OnModelCreating; Dapper maps by property-name↔column-name (the SQL string names columns explicitly). Dead metadata. They compile because 'using SQLite;' is in every Row file and the server csproj still references sqlite-net-pcl ('stays until the DBService rewrite'). This is the #1 way to be misled about the real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sealed partial class PgDBService : IDataBaseService, split across seven files (.cs core+tx, .Orders, .Portfolio, .Stocks, .Users, .Misc, .BotMaintenance). Constructor deps: IDbConnectionFactory (pool) + ILogger. Runtime never binds Dapper straight to a domain model — it goes through a *Row DTO with hand-written ToDomain/ToRow (a decoupling seam). OrderMapper parses Side/Entry/Stop strings defensively (order types are strings, not enums). Batching: for N&gt;1 hot types, InsertAllAsync dispatches to one multi-row VALUES statement, chunked at 2000 rows to stay under Postgres's 65535 bind-param cap; N=1 and cold types fall through per-row. Upserts use INSERT…ON CONFLICT. ClampPage guards paging; sort keys whitelisted (injection-safe). .BotMaintenance is a second interface on the same singleton.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solvency backstop that lives IN the database. Funds: one row per (UserId, Currency); TotalBalance = all cash, ReservedBalance = the slice fenced against resting buy orders / short collateral; CHECK CK_Funds_Balance_Invariants = TotalBalance≥0 AND ReservedBalance≥0 AND ReservedBalance≤TotalBalance; Available = Total−Reserved. Positions: one row per (UserId, StockId); Quantity signed (negative=short), ReservedQuantity is the long-only share reserve against resting sells, plus ShortCollateral + ShortCollateralCurrency while short; CHECK CK_Positions_Quantity_Invariants bounds reserve/collateral vs signed Quantity. The engine's reserve-at-place prevents overdraw, but the hard guarantee is these Postgres CHECKs. 14 tables total; PKs are identity int except UserPreferences (caller-supplied UserId).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RunInTransactionAsync uses a static AsyncLocal&lt;TxScope?&gt; _ambient holding (NpgsqlConnection, NpgsqlTransaction) — because it's AsyncLocal, any query from inside the continuation inherits the same physical connection + transaction without threading a handle. Root vs nested: root opens a fresh connection + BeginTransaction; nested emits SAVEPOINT sp_&lt;guid&gt;. Nested commit = RELEASE SAVEPOINT; only the root commit is a real Postgres COMMIT (one fsync) and only the root clears _ambient. GOTCHA: a query from a Task.Run/unawaited continuation that escaped the flow silently gets a FRESH connection — keep settlement writes on the awaited path. Conservation (Σ ΔTotalBalance=0 per currency, Σ ΔQuantity=0 per stock, Σ Quantity==SharesOutstanding) is engine-enforced by ConservationProbe, NOT a DB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host/ops deck. Verbal bridge: we've seen where the bytes land and the invariants the schema enforces; now let's see the process that boots the schema, seeds the bots, and keeps 20k of them trading for days. Reminder of the flagged discrepancy for Q&amp;A: StockCols omits SharesOutstanding, so catalog reads return it as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5 of 7. The server is an ASP.NET Core app (KieshStockExchange.Server): 28 MVC controllers under Controllers/ plus Hubs/MarketHub.cs. Every controller routes off an explicit [Route("api/...")] — no global prefix. Because the client never runs the engine, this HTTP + WebSocket edge is the entire contract. Trading/portfolio DTOs live in Shared/Services/MarketEngineServices/; auth DTOs are inline in AuthController.cs.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sit at CLIENT→API: the boundary the deck-6 client consumes and the deck-3 engine hides behind. Everything past API (ENTRY→EXEC→MATCH→SETTLE→DB) is the engine — this deck stops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Bearer token issued by POST /api/auth/login or /register (LoginResponse carries it). Rate limits from Program.cs AddRateLimiter, over-limit → 429 no queue: "auth" 10/min per IP on login/register; "orders" 60/min per user on place/modify/cancel + deposit/withdraw/convert. Reads unlimited. Health: /healthz/live and /healthz/ready are [AllowAnonymous].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Doorway: AuthController (Anon, mints JWT), SessionController, VersionController. Trading: OrderController (place/place-bracket/modify/cancel, Owner + orders limit) maps the (Stop,Entry,Side) triple to an IOrderEntryService.Place*Async; EngineController portfolio deposit-withdraw/convert-internal. Per-user reads (Owner-gated via CanAccessUser): Fund/Position/Transaction/FundTransaction/Message by-user. Market data (JWT reads): OrderBook, Candle, Stock(+Listing/Price), FxRate, MarketLookup, MarketMood, AIUser. Admin/ops: AdminController, AdminBotController, AdminLogsController, SeedController, RetentionController, ServerController.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Program.cs: options.FallbackPolicy = RequireAuthenticatedUser() — every endpoint needs a JWT unless [AllowAnonymous]. Admin gate class-wide on ServerController/SeedController/RetentionController and per-action on cross-user reads; role claim issued lowercase by JwtTokenService. Ownership via ClaimsExtensions.GetUserId()/CanAccessUser(userId) (true if caller==userId OR admin). JWT validated in AddJwtBearer (issuer/audience/lifetime/HMAC key; refuses to boot in Production with the dev key). JwtBearerEvents.OnMessageReceived lifts ?access_token= for /hubs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IHostedService broadcasters bridge in-process engine events onto hub groups; MarketHub itself only owns subscribe/unsubscribe. Bootstrap→live pairings: QuoteUpdated ← latest-price; CandleClosed ← candles/by-stock-range; OrderBookSnapshot ← order-book (≤1 push/100ms); OrderUpdated ← orders/by-user; PortfolioChanged ← funds+positions/by-user. The payload-light events deliberately invalidate a cache so the client re-fetches authoritative state over REST rather than trusting a pushed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Client→server hub methods: JoinQuotes/JoinCandles/JoinUserGroups/JoinTelemetry (+Leave). JoinUserGroups ignores the wire userId — the server derives id from the JWT sub (param kept for pre-JWT back-compat). JoinTelemetry is admin-only via an in-method Context.User.IsInRole("admin") check that throws HubException. JoinCandles calls ICandleService.Subscribe, ref-counting the server aggregator; without it the engine never emits CandleClosed for that key. OrderBookSnapshot: StockId, Currency, Bids/Asks (DepthLevel = Price/Quantity/OrderCount), LastUpdatedUtc, BookVersion (drop stale). Hub is [Authorize] — valid JWT required to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ranked by blast radius: (1) AdminController api/admin/* — drop-recreate/reset/insert-all/update-all, no admin gate; (2) AdminBotController — start/stop/scaler + telemetry CSV leaks; (3) UserController — full CRUD, no gate no ownership; (4) MessageController class-level CRUD — GetAll returns everyone's inbox; (5) UserPreferences/UserWatchlist — no ownership check on by-user; (6) reference-data write CRUD (Stock/StockPrice/StockListing/Candle/AIUser) JWT-only; (7) SessionController stale 'anyone can hit' comment. Missing gates are verified against controller attributes; intent (deliberate deferral vs hole) is inferred — sibling ops controllers ARE admin-gated, so contrast is real. Confirm before treating as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deck 6. Verbal bridge: we've mapped every wire the server exposes; next we meet the thin MAUI client that fetches over these REST routes and stays live on this hub — the consumer side of the same REST-vs-SignalR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the layer underneath ENGINE and BOT_MECHANICS: the DI graph they live in and the container that hosts it. HOST half = §1–§4 (the process): composition root, config, request pipeline, hosted services. OPS half = §5–§8 (the box): Dockerfile, compose, Caddy, deploy/rollback. Persistence is Postgres via hand-written Dapper (PgDBService); EF Core exists only for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 spans the whole server-side pipeline (API→DB); only CLIENT lives elsewhere. Program.cs is the composition root — top-level statements read top-to-bottom = boot order. Grep symbols, not line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Program.cs three phases: (A) builder.Services registration, (B) builder.Build(), (C) strict pre-Run warm-up. Statics (MatchSymmetryProbe, MidReference, FxRateService) configured before Build() by reading builder.Configuration directly. Seed used to be a hosted service — but hosted services only start at Run(), which froze empty caches; moved into phase C. Candle warm-up subscribes 7 resolutions × currencies, BackfillUpwardAsync then PrimeRingsAsync (last 500 candles/key).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IHostedService.StartAsync fires at app.Run(); BackgroundService loops in ExecuteAsync. StopTriggerWatcher registered 3× (concrete, IStopWatcher, IHostedService) all resolving one singleton; Lazy&lt;IStopWatcher&gt; breaks the DI cycle. OrderBookBroadcaster throttles max 1/100ms per key, BookVersion hash-skips no-ops. MarketHubBroadcaster: QuoteUpdated/CandleClosed → quotes:{stockId}:{currency}, portfolio → portfolio:{userId}. orders:{userId} fed separately by SignalROrderCacheService. RetentionHostedService gated on Retention:Enabled; BotTelemetryWarmup one-shot 2s after boot.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ASP.NET Core IConfiguration, lowest-to-highest. Double-underscore __ is the config-path separator because ':' isn't legal in a Linux env var name. Prod's appsettings re-asserts Seed:AutoOnEmptyDb, switches Serilog to JSON formatter, carries Bots:* tuning (TradeIntervalMs, Staggering:Slots, DipBuyStrength, Rotator/BankEstimate on) + a Retention window. Cors__AllowedOrigins__0 = Cors:AllowedOrigins[0]. Practical consequence: to change a prod runtime knob you edit the compose env block and up -d server, not appsettings.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env block carries the flags ON in prod but default-off in appsettings — reversible, no schema, no config rebuild. Fear/Greed Stage A+B: Bots__Mood__ Enabled/TakerCoupling/ConvictionFearBid/PerStrategy/MMWiden all true. GlobalCoFire: Enabled=true, GlobalFraction=0.4, MeanIntervalMinutes=0.5, GlobalCoFire=true, GlobalCoFireFraction=0.15, GlobalCoFireNotionalFrac=0.1, AnchorTracksShock=false. Prod override also un-publishes Postgres (ports: !reset [] — Compose ≥2.24, concatenation means a plain [] wouldn't drop the inherited 5432) and defines the profiled migrate one-shot.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Middleware wired in phase C after warm-up, order commented in-source. JWT: 30s clock skew, Auth:SigningKey mandatory, throws in Production if it equals DevSigningKey const. Fallback authorization policy requires auth on every endpoint. CORS from Cors:AllowedOrigins (only bites a browser client — native MAUI HttpClient sends no Origin). Rate limiter runs after auth so it can read the sub claim; over-limit = immediate 429, reads unlimited. Docker HEALTHCHECK hits /healthz/live deliberately so a slow DB doesn't restart the container. UseStaticFiles before auth so the admin log-viewer page serves publicly.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 from deploy/RUNBOOK.md: git pull &amp;&amp; docker compose -f docker-compose.yml -f docker-compose.prod.yml --env-file .env.production up -d --build. Rollback cheapest-first: (1) config flag — delete/edit the Bots__… env line + up -d server, no rebuild/no data touch; (2) code — git checkout prev tip + up -d --build server; (3) full/data — restore pg_dump (deploy/backup.sh, cron 02:00 UTC) + checkout pre-change tip + rebuild, required for anything touching DB shape/seed. Dockerfile is two-stage (SDK build / aspnet runtime, non-root appuser uid 1000, curl for healthcheck). migrate one-shot runs dotnet ef from the build stage because the runtime image is EF-free.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persistence deck. Verbal bridge: we've seen the process boot, host its actors, and get tuned by env — now let's follow the writes down into Postgres. HOST §1–§4 (process) + OPS §5–§8 (box) both rest on the Dapper data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7, the last one. Everything the user SEES is this MAUI client; everything that HAPPENS (matching, settlement, candles, bots) is the server. Since the Phase-3 client/server split the client does almost no thinking — before it, the engine ran in-process. This deck is deliberately simpler than the engine/bot decks. Companion to BOT_MECHANICS.md and ENGINE_MECHANICS.md.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lights only the CLIENT stage. Everything to the right (API→ENTRY→EXEC→MATCH→SETTLE→DB) lives in KieshStockExchange.Server and was covered in decks 1-6. The client is a read/write observer of the one authoritative server — N heads must all observe the same book, so the engine cannot live inside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assemblies: KieshStockExchange (this doc), KieshStockExchange.Shared (net9.0 — Stock, Order, Fund, Position, LiveQuote, Candle, PortfolioSnapshot; referenced by both ends so DTOs are identical types), KieshStockExchange.Server (out of scope). The old in-process duplicates — OrderExecutionService, LocalDBService, AiTradeService — were deleted at Phase 3. Layering (Views→ViewModels→Services→HTTP/hub) is by CONVENTION only, no analyzer enforces it. Client needs a reachable Server:BaseUrl (Resources/Raw/appsettings.json, fallback http://localhost:5000) or every screen shows empty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MauiProgram wires everything in one method; order matters twice (base-URL-before-DI, and eager resolution at the end forcing 4 singletons to construct so their ctors subscribe before any page exists: TokenStore, INotificationService, ConnectionStatusViewModel, ApiOrderCacheBridge). Singletons = anything holding shared/live state. Transients = pages + VMs, fresh per navigation. TradePage(TradeViewModel vm) — page never news up its VM. StockAwareViewModel base gives cancel-and-swap CTS reactivity: switch a stock once and Chart/OrderBook/tables each independently cancel-and-reload. GoToAsync mutates the visual tree so must run on the UI thread. Invariant: a missed unsubscribe leaks a handler onto the singleton every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IMarketHubClient/MarketHubClient owns the sole HubConnection — one socket = one auth handshake, one reconnect path, one replay point. Every live proxy (SignalRMarketDataClient, SignalRCandleService, ApiPortfolioClient, ApiOrderBookFeed, ApiOrderCacheBridge) subscribes to its C# events, not its own socket. Three server hosted services originate pushes: MarketHubBroadcaster (quotes/candles/portfolio), OrderBookBroadcaster (book snapshots), TelemetryBroadcaster (admin). PortfolioChanged is a placeholder broadcast to portfolio:0 — client treats it as a bare 're-fetch' trigger. ReplayGroupsAsync re-joins every tracked group after both Reconnected and manual restart. Telemetry group exists but this client doesn't consume it (bot dashboard polls REST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thing to internalise about this client. REST (named HttpClient 'KSE.Server' via IHttpClientFactory) = on-demand loads + ALL mutations: history fetches, order placement, deposit/convert, admin start/stop, the mood poll — it needs a definite per-call accept/reject and paging params. SignalR = the live plane: prices, candles, book, order/portfolio invalidations, notifications. Most feeds are cache-first: read the last snapshot synchronously, HTTP-fetch on a miss, let the next push overwrite. Two deliberate exceptions: the Market page adds a 1s poll fallback for idle stocks, and the Bot dashboard is pure REST-poll (never joins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MarketViewModel over IMarketDataService.Quotes. Subscribes both currencies so the watchlist populates regardless of active tab. Two redundant triggers: push-driven OnQuoteUpdated (debounced to one rebuild per UI frame via _pollPending) and a 1s IDispatcherTimer fallback for non-trading stocks. TrendingService is an independent 5s PeriodicTimer snapshotting LiveQuote into frozen MoverSnapshot records off-thread (avoids wrong-thread PropertyChanged), de-duped to one listing per stock; it intentionally does NOT subscribe to QuoteUpdated (UI-thread storms). PausePolling on disappear so 140+ subscriptions don't storm the UI thread on the Trade page. TradeAsync sets ISelectedStockService and navigates to ///TradePage.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TradePage ↔ TradeViewModel, a composite owning ChartVm/OrderBookVm/PlacingVm/OpenOrdersVm. 70/30 vertical split. Chart row height pinned imperatively (UpdateTradeLayout/UpdatePanelHeights) — the reference_maui_scrollview_starrow_sizing gotcha. Bottom card = SegmentedTabView with Open Orders / Order History / Transaction History / Positions + a 'current stock only' filter, fed by IOrderCacheService + ITransactionService kept live by ApiOrderCacheBridge off OrderUpdated pushes. PickerSelection setter spawns Task.Run so the ~8-subscriber SelectedStockService.Set fan-out doesn't freeze the UI thread on rapid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(ChartViewModel ~1750 lines, the heaviest component): GraphicsView + CandleChartDrawable, immutable snapshot records VM→drawable, RedrawRequested coalesced ~60fps. HTTP-loads history then streams closed candles; the live forming bar is synthesized from the price tick (TrySyncLiveCandle) since the server streams only closed candles. Overlays from user data: open-order lines (draggable → modify ticket), fill markers (VWAP-aggregated), trigger markers, position line (WAC basis, live P&amp;L). Book (ApiOrderBookFeed): cache-first, HTTP fallback GET /api/order-book/{stockId}/{currency}, out-of-order pushes dropped by BookVersion; OrderBookDepthAggregator auto-scales the bucket until one holds ≥25% of side volume. Ticket (PlaceOrderViewModel): ValidateInputs client-side (qty&gt;0, valid price, trigger side) is a pre-filter not the authority; dispatches to PlaceLimit/SlippageMarket/TrueMarket/StopMarket/StopLimit/Bracket; success/fail toasts server-authored via NotificationReceived — no optimistic local toast (would double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mood pane is the client face of Bots:Mood:* / MarketMoodService. There is NO stored mood history server-side, so SeedMoodFromCandles builds a back-history: it uses each candle's server-stamped Candle.MarketMood where present (the composite F&amp;G, correct for the timeframe), else a momentum reconstruction tanh(k·ln(close/EMA)) as a believable stand-in that is explicitly marked in-code as faked. Then it fills forward via ApiMarketMoodClient.GetMoodAsync → MoodPollLoopAsync, GET /api/market/mood/{stockId} every 4s, accumulating up to 2000 samples on the candle time axis. Returns null on any transport fault so the pane stalls rather than throws. No-op while the pane is off. This is one of the REST-poll exceptions to the push rule — the mood is low-frequency and there's no group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PortfolioViewModel is a shell over six sub-VMs (Currencies, Holdings, OpenOrders, OrderHistory, Transactions, FundsHistory). RefreshMetrics runs on IUserPortfolioService.SnapshotChanged, ITransactionService.TransactionsChanged, and session change. KPIs are base-currency, cross-currency values walked live through IFxRateService mid-rates; holdings valued off the live LiveQuote cache. All-time P&amp;L is liquidation-equivalent (sells received + current holdings value − buys paid). Allocation pie uses Okabe-Ito palette, top-7 + Other. Account/Funds page (§13) is the sibling: profile from IAuthService.CurrentUser, base-currency picker, Funds card, and an Activity card with WAC realized P&amp;L (PnLIsApproximate flips if inventory ever went short). Deposit/withdraw/convert POST to /api/portfolio/* via ApiPortfolioClient. Two admin surfaces exist too — Bot dashboard (REST-polled) and the CRUD Admin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deck of the seven. The verbal close: we opened deck 1 with one order's journey through the pipeline; this deck showed the front of that pipeline — the screen the user actually touches. It reads live over one hub and writes over HTTP, but it never decides anything; all authority — matching, settlement, conservation, the 20k bots — lives in the server we toured in decks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6C784"/>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16C784"/>
                </a:solidFill>
                <a:latin typeface="Segoe UI" pitchFamily="34" charset="0"/>
                <a:ea typeface="Segoe UI" pitchFamily="34" charset="-122"/>
                <a:cs typeface="Segoe UI" pitchFamily="34" charset="-120"/>
              </a:rPr>
              <a:t>KIESHSTOCKEXCHANGE · THE PRODUCT IN 7 EXPLAINERS</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Price is not scripted. It emerges.</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A live stock-exchange simulation where ~20,000 trading bots make the market — and every price is the output of a real matching engine, not a line of code.</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Deck 0 — the trailer   ·   start with ARCHITECTURE.md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00</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CLAIM, IN NUMBERS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0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A real market, not a price animation</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16C784"/>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20k</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trading bots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5 strategy cohorts · ~1s decision loop</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16C784"/>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70</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order books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50 stocks, cross-listed USD + EUR</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16C784"/>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1</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matching engine</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bots + humans cross the same book</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16C784"/>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0</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conservation error</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Σ Δ = 0 proved before every commit</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Why this is hard to fake</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Five cohorts supply liquidity and a real counterparty.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50 stocks span 70 USD/EUR books — orders, quotes, candles per book.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One matcher: a human order fills against living bot flow.</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Every settled batch is proven to conserve money and shares.</a:t>
            </a:r>
            <a:endParaRPr lang="en-US" sz="1400" dirty="0"/>
          </a:p>
        </p:txBody>
      </p:sp>
      <p:sp>
        <p:nvSpPr>
          <p:cNvPr id="27" name="Shape 25"/>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9" name="Shape 27"/>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1" name="Shape 29"/>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2" name="Text 30"/>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3" name="Shape 31"/>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4" name="Text 32"/>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5" name="Shape 33"/>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6" name="Text 34"/>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7" name="Shape 35"/>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8" name="Text 36"/>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9" name="Shape 37"/>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0" name="Text 38"/>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00</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JOURNEY</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0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Every deck follows one order down this spine</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F5B942"/>
          </a:solidFill>
          <a:ln w="12700">
            <a:solidFill>
              <a:srgbClr val="F5B942"/>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F5B942"/>
          </a:solidFill>
          <a:ln w="12700">
            <a:solidFill>
              <a:srgbClr val="F5B942"/>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F5B942"/>
          </a:solidFill>
          <a:ln w="12700">
            <a:solidFill>
              <a:srgbClr val="F5B942"/>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F5B942"/>
          </a:solidFill>
          <a:ln w="12700">
            <a:solidFill>
              <a:srgbClr val="F5B942"/>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F5B942"/>
          </a:solidFill>
          <a:ln w="12700">
            <a:solidFill>
              <a:srgbClr val="F5B942"/>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F5B942"/>
          </a:solidFill>
          <a:ln w="12700">
            <a:solidFill>
              <a:srgbClr val="F5B942"/>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F5B942"/>
          </a:solidFill>
          <a:ln w="12700">
            <a:solidFill>
              <a:srgbClr val="F5B942"/>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The seven explainers, laid on one pipeline</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Click to conserved fill: CLIENT → API → ENTRY → EXEC → MATCH → SETTLE → DB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Bots feed the same book from below — one shared matcher.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Each explainer lights just its zone of this strip.</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Follow the tape from who places an order to where value lands.</a:t>
            </a:r>
            <a:endParaRPr lang="en-US" sz="1400" dirty="0"/>
          </a:p>
        </p:txBody>
      </p:sp>
      <p:sp>
        <p:nvSpPr>
          <p:cNvPr id="32" name="Shape 30"/>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00</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SET</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0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Seven explainers, each a zoom into one stage</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F5B942"/>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1</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Architecture</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the system map — start here</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F5B942"/>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2</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Bot Mechanics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who places orders, and why price moves</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F5B942"/>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3</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Engine Mechanics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entry → match → settle · CK = 0</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F5B942"/>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4</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Data · API · Host · Client</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storage, wire, ops, and the desktop</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A guided reading order</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Architecture is the map — always read it first.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Bots explains where order flow comes from and how price is shaped.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Engine explains matching, settlement, and money/share safety.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Data, API, Host and Client cover storage, protocol, and the app.</a:t>
            </a:r>
            <a:endParaRPr lang="en-US" sz="1400" dirty="0"/>
          </a:p>
        </p:txBody>
      </p:sp>
      <p:sp>
        <p:nvSpPr>
          <p:cNvPr id="27" name="Text 25"/>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Read top-to-bottom for onboarding; jump by topic once oriented.</a:t>
            </a:r>
            <a:endParaRPr lang="en-US" sz="1000" dirty="0"/>
          </a:p>
        </p:txBody>
      </p:sp>
      <p:sp>
        <p:nvSpPr>
          <p:cNvPr id="28" name="Shape 26"/>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9" name="Text 27"/>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30" name="Shape 28"/>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1" name="Text 29"/>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2" name="Shape 30"/>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4" name="Shape 32"/>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5" name="Text 33"/>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6" name="Shape 34"/>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8" name="Shape 36"/>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9" name="Text 37"/>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40" name="Shape 38"/>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1" name="Text 39"/>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914400" y="2194560"/>
            <a:ext cx="10332720" cy="2468880"/>
          </a:xfrm>
          <a:prstGeom prst="rect">
            <a:avLst/>
          </a:prstGeom>
          <a:noFill/>
          <a:ln/>
        </p:spPr>
        <p:txBody>
          <a:bodyPr wrap="square" rtlCol="0" anchor="ctr"/>
          <a:lstStyle/>
          <a:p>
            <a:pPr indent="0" marL="0">
              <a:lnSpc>
                <a:spcPct val="105000"/>
              </a:lnSpc>
              <a:buNone/>
            </a:pPr>
            <a:r>
              <a:rPr lang="en-US" sz="4000" b="1" dirty="0">
                <a:solidFill>
                  <a:srgbClr val="FFFFFF"/>
                </a:solidFill>
                <a:latin typeface="Segoe UI" pitchFamily="34" charset="0"/>
                <a:ea typeface="Segoe UI" pitchFamily="34" charset="-122"/>
                <a:cs typeface="Segoe UI" pitchFamily="34" charset="-120"/>
              </a:rPr>
              <a:t>No line of code sets the price.</a:t>
            </a:r>
            <a:endParaRPr lang="en-US" sz="4000" dirty="0"/>
          </a:p>
        </p:txBody>
      </p:sp>
      <p:sp>
        <p:nvSpPr>
          <p:cNvPr id="3" name="Text 1"/>
          <p:cNvSpPr/>
          <p:nvPr/>
        </p:nvSpPr>
        <p:spPr>
          <a:xfrm>
            <a:off x="960120" y="4663440"/>
            <a:ext cx="10058400" cy="822960"/>
          </a:xfrm>
          <a:prstGeom prst="rect">
            <a:avLst/>
          </a:prstGeom>
          <a:noFill/>
          <a:ln/>
        </p:spPr>
        <p:txBody>
          <a:bodyPr wrap="square" rtlCol="0" anchor="ctr"/>
          <a:lstStyle/>
          <a:p>
            <a:pPr indent="0" marL="0">
              <a:buNone/>
            </a:pPr>
            <a:r>
              <a:rPr lang="en-US" sz="1800" dirty="0">
                <a:solidFill>
                  <a:srgbClr val="F5B942"/>
                </a:solidFill>
                <a:latin typeface="Segoe UI" pitchFamily="34" charset="0"/>
                <a:ea typeface="Segoe UI" pitchFamily="34" charset="-122"/>
                <a:cs typeface="Segoe UI" pitchFamily="34" charset="-120"/>
              </a:rPr>
              <a:t>It is whatever the order book prints when 20,000 traders cross. →  Deck 1: Architecture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6C784"/>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16C784"/>
                </a:solidFill>
                <a:latin typeface="Segoe UI" pitchFamily="34" charset="0"/>
                <a:ea typeface="Segoe UI" pitchFamily="34" charset="-122"/>
                <a:cs typeface="Segoe UI" pitchFamily="34" charset="-120"/>
              </a:rPr>
              <a:t>PRODUCT EXPLAINER · 1 OF 7 · START HERE</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The System Map</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A live stock-exchange simulation — ~20,000 trading bots, 50 stocks across 70 USD/EUR order books, a real matching engine, and a desktop client, all sharing one market.</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ARCHITECTURE.md   ·   read this first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YOU ARE HERE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order's journey — the spine of the whole product</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F5B942"/>
          </a:solidFill>
          <a:ln w="12700">
            <a:solidFill>
              <a:srgbClr val="F5B942"/>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F5B942"/>
          </a:solidFill>
          <a:ln w="12700">
            <a:solidFill>
              <a:srgbClr val="F5B942"/>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F5B942"/>
          </a:solidFill>
          <a:ln w="12700">
            <a:solidFill>
              <a:srgbClr val="F5B942"/>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F5B942"/>
          </a:solidFill>
          <a:ln w="12700">
            <a:solidFill>
              <a:srgbClr val="F5B942"/>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F5B942"/>
          </a:solidFill>
          <a:ln w="12700">
            <a:solidFill>
              <a:srgbClr val="F5B942"/>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F5B942"/>
          </a:solidFill>
          <a:ln w="12700">
            <a:solidFill>
              <a:srgbClr val="F5B942"/>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F5B942"/>
          </a:solidFill>
          <a:ln w="12700">
            <a:solidFill>
              <a:srgbClr val="F5B942"/>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After this deck you'll understand</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four projects and how they depend on each other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one order's path from click to conserved fill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why the client can be a thin skin over the server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CK = 0 conservation guarantee that never breaks</a:t>
            </a:r>
            <a:endParaRPr lang="en-US" sz="1400" dirty="0"/>
          </a:p>
        </p:txBody>
      </p:sp>
      <p:sp>
        <p:nvSpPr>
          <p:cNvPr id="32" name="Shape 30"/>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WHAT IT IS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living market, made by twenty thousand bots</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16C784"/>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20k</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trading bots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autonomous · ~1s decision loop</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16C784"/>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70</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order books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50 stocks, cross-listed USD + EUR</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16C784"/>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1</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shared engine</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bots + humans hit the same matcher</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16C784"/>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0</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conservation error</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Σ Δ proved zero before each commit</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The whole idea</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bots supply liquidity and a counterparty.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So a human order actually fills against a living market.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All authority lives in one server: engine, bots, API, DB.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client just renders and sends — it never matches.</a:t>
            </a:r>
            <a:endParaRPr lang="en-US" sz="1400" dirty="0"/>
          </a:p>
        </p:txBody>
      </p:sp>
      <p:sp>
        <p:nvSpPr>
          <p:cNvPr id="27" name="Shape 25"/>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9" name="Shape 27"/>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1" name="Shape 29"/>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2" name="Text 30"/>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3" name="Shape 31"/>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4" name="Text 32"/>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5" name="Shape 33"/>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6" name="Text 34"/>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7" name="Shape 35"/>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8" name="Text 36"/>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9" name="Shape 37"/>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0" name="Text 38"/>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PROJECTS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Server and client meet only through Shared</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MAUI Client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Views + ViewModels · thin skin</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0E9F6E"/>
          </a:solidFill>
          <a:ln w="12700">
            <a:solidFill>
              <a:srgbClr val="0E9F6E"/>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Shared — Models + interfaces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 hub both compile against</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Server — engine · 20k bots · API · host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 authoritative process</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Four projects</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Shared is the hub: Models + service interfaces.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Client and Server both depend on Shared — never on each other.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Server owns the engine, the fleet, the API, and all Postgres.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Plus a Migration data-tool and Python bot-seeding in Tools/.</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Detail: DATA_LAYER.md (persistence) · SERVER_HOST_AND_OPS.md (the host process)</a:t>
            </a:r>
            <a:endParaRPr lang="en-US" sz="1000" dirty="0"/>
          </a:p>
        </p:txBody>
      </p:sp>
      <p:sp>
        <p:nvSpPr>
          <p:cNvPr id="20" name="Shape 18"/>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LIFECYCLE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order: click to conserved fill, then everyone sees it</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Trade page → OrderController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IOrderEntryService over HTTP</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Entry → Execution</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reserve funds · batched tx</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Matching → Settlement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cross the book · Σ Δ = 0</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MarketHub push</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every client re-renders</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Click → fill → broadcast</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ViewModel calls an interface — the HTTP hop is invisible.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Four engine hops, each one job, each a clean handoff.</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Settlement proves conservation before every commit.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20k bots take the identical path — one shared matcher.</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The full worked numeric trace lives in ENGINE_MECHANICS.md §1.5</a:t>
            </a:r>
            <a:endParaRPr lang="en-US" sz="1000" dirty="0"/>
          </a:p>
        </p:txBody>
      </p:sp>
      <p:sp>
        <p:nvSpPr>
          <p:cNvPr id="23" name="Shape 21"/>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SEAM</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client is thin because the contract is shared</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ONE CONTRACT, TWO IMPLEMENTATIONS</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Shared/Models/*   (Order, Fund, Position…)</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serialized on server ─┐</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deserialized on client┘  same CLR types</a:t>
            </a:r>
            <a:endParaRPr lang="en-US" sz="1250" dirty="0"/>
          </a:p>
          <a:p>
            <a:pPr indent="0" marL="0">
              <a:lnSpc>
                <a:spcPct val="114000"/>
              </a:lnSpc>
              <a:buNone/>
            </a:pP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Shared/.../IOrderEntryService</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server → OrderEntryService  (real)</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client → ApiOrderEntryClient (proxy)</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Models + interfaces = the wire</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Models are the wire DTOs — no hand-kept mirror, no drift.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They carry invariants: a bad order can't even be constructed.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Interfaces are one contract; real impl vs HTTP-proxy impl.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That's why the in-process client engine was deleted for free.</a:t>
            </a:r>
            <a:endParaRPr lang="en-US" sz="1400" dirty="0"/>
          </a:p>
        </p:txBody>
      </p:sp>
      <p:sp>
        <p:nvSpPr>
          <p:cNvPr id="14" name="Shape 12"/>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5" name="Text 13"/>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6" name="Shape 14"/>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7" name="Text 15"/>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8" name="Shape 16"/>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19" name="Text 17"/>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0" name="Shape 18"/>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1" name="Text 19"/>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2" name="Shape 20"/>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4" name="Shape 22"/>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6" name="Shape 24"/>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A3943"/>
          </a:solidFill>
          <a:ln/>
        </p:spPr>
      </p:sp>
      <p:sp>
        <p:nvSpPr>
          <p:cNvPr id="3" name="Shape 1"/>
          <p:cNvSpPr/>
          <p:nvPr/>
        </p:nvSpPr>
        <p:spPr>
          <a:xfrm>
            <a:off x="457200" y="365760"/>
            <a:ext cx="512064" cy="512064"/>
          </a:xfrm>
          <a:prstGeom prst="roundRect">
            <a:avLst>
              <a:gd name="adj" fmla="val 12500"/>
            </a:avLst>
          </a:prstGeom>
          <a:solidFill>
            <a:srgbClr val="EA3943"/>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01</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INVARIANT</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1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Trading moves value — it never creates or destroys it</a:t>
            </a:r>
            <a:endParaRPr lang="en-US" sz="2500" dirty="0"/>
          </a:p>
        </p:txBody>
      </p:sp>
      <p:sp>
        <p:nvSpPr>
          <p:cNvPr id="8" name="Shape 6"/>
          <p:cNvSpPr/>
          <p:nvPr/>
        </p:nvSpPr>
        <p:spPr>
          <a:xfrm>
            <a:off x="475488" y="1664208"/>
            <a:ext cx="914400" cy="0"/>
          </a:xfrm>
          <a:prstGeom prst="line">
            <a:avLst/>
          </a:prstGeom>
          <a:noFill/>
          <a:ln w="38100">
            <a:solidFill>
              <a:srgbClr val="EA3943"/>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CONSERVATION PROBE · PER BATCH</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300" dirty="0">
                <a:solidFill>
                  <a:srgbClr val="D8E0EC"/>
                </a:solidFill>
                <a:latin typeface="Consolas" pitchFamily="34" charset="0"/>
                <a:ea typeface="Consolas" pitchFamily="34" charset="-122"/>
                <a:cs typeface="Consolas" pitchFamily="34" charset="-120"/>
              </a:rPr>
              <a:t>before every commit:</a:t>
            </a:r>
            <a:endParaRPr lang="en-US" sz="1300" dirty="0"/>
          </a:p>
          <a:p>
            <a:pPr indent="0" marL="0">
              <a:lnSpc>
                <a:spcPct val="114000"/>
              </a:lnSpc>
              <a:buNone/>
            </a:pPr>
            <a:endParaRPr lang="en-US" sz="1300" dirty="0"/>
          </a:p>
          <a:p>
            <a:pPr indent="0" marL="0">
              <a:lnSpc>
                <a:spcPct val="114000"/>
              </a:lnSpc>
              <a:buNone/>
            </a:pPr>
            <a:r>
              <a:rPr lang="en-US" sz="1300" dirty="0">
                <a:solidFill>
                  <a:srgbClr val="7FE3AD"/>
                </a:solidFill>
                <a:latin typeface="Consolas" pitchFamily="34" charset="0"/>
                <a:ea typeface="Consolas" pitchFamily="34" charset="-122"/>
                <a:cs typeface="Consolas" pitchFamily="34" charset="-120"/>
              </a:rPr>
              <a:t>  Σ ΔTotalBalance == 0</a:t>
            </a:r>
            <a:endParaRPr lang="en-US" sz="1300" dirty="0"/>
          </a:p>
          <a:p>
            <a:pPr indent="0" marL="0">
              <a:lnSpc>
                <a:spcPct val="114000"/>
              </a:lnSpc>
              <a:buNone/>
            </a:pPr>
            <a:r>
              <a:rPr lang="en-US" sz="1300" dirty="0">
                <a:solidFill>
                  <a:srgbClr val="7FE3AD"/>
                </a:solidFill>
                <a:latin typeface="Consolas" pitchFamily="34" charset="0"/>
                <a:ea typeface="Consolas" pitchFamily="34" charset="-122"/>
                <a:cs typeface="Consolas" pitchFamily="34" charset="-120"/>
              </a:rPr>
              <a:t>  Σ ΔQuantity     == 0</a:t>
            </a:r>
            <a:endParaRPr lang="en-US" sz="1300" dirty="0"/>
          </a:p>
          <a:p>
            <a:pPr indent="0" marL="0">
              <a:lnSpc>
                <a:spcPct val="114000"/>
              </a:lnSpc>
              <a:buNone/>
            </a:pPr>
            <a:endParaRPr lang="en-US" sz="1300" dirty="0"/>
          </a:p>
          <a:p>
            <a:pPr indent="0" marL="0">
              <a:lnSpc>
                <a:spcPct val="114000"/>
              </a:lnSpc>
              <a:buNone/>
            </a:pPr>
            <a:r>
              <a:rPr lang="en-US" sz="1300" dirty="0">
                <a:solidFill>
                  <a:srgbClr val="F5A3A9"/>
                </a:solidFill>
                <a:latin typeface="Consolas" pitchFamily="34" charset="0"/>
                <a:ea typeface="Consolas" pitchFamily="34" charset="-122"/>
                <a:cs typeface="Consolas" pitchFamily="34" charset="-120"/>
              </a:rPr>
              <a:t>  one violation → soak FAILS</a:t>
            </a:r>
            <a:endParaRPr lang="en-US" sz="130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EA3943"/>
                </a:solidFill>
                <a:latin typeface="Segoe UI" pitchFamily="34" charset="0"/>
                <a:ea typeface="Segoe UI" pitchFamily="34" charset="-122"/>
                <a:cs typeface="Segoe UI" pitchFamily="34" charset="-120"/>
              </a:rPr>
              <a:t>Σ Δ = 0, always</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Value moves between accounts — the totals stay fixed.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Each settled batch is summed post-apply, pre-commit.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“CK = 0” means that error line never appears — the hard gate.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It's why 20k bots trade for days without the books drifting.</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Engine-side detail: ENGINE_MECHANICS.md §5</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097280"/>
            <a:ext cx="1005840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TAKEAWAYS</a:t>
            </a:r>
            <a:endParaRPr lang="en-US" sz="1300" dirty="0"/>
          </a:p>
        </p:txBody>
      </p:sp>
      <p:sp>
        <p:nvSpPr>
          <p:cNvPr id="4" name="Text 2"/>
          <p:cNvSpPr/>
          <p:nvPr/>
        </p:nvSpPr>
        <p:spPr>
          <a:xfrm>
            <a:off x="868680" y="1691640"/>
            <a:ext cx="10424160" cy="3017520"/>
          </a:xfrm>
          <a:prstGeom prst="rect">
            <a:avLst/>
          </a:prstGeom>
          <a:noFill/>
          <a:ln/>
        </p:spPr>
        <p:txBody>
          <a:bodyPr wrap="square" rtlCol="0" anchor="t"/>
          <a:lstStyle/>
          <a:p>
            <a:pPr marL="228600" indent="-228600">
              <a:lnSpc>
                <a:spcPct val="105000"/>
              </a:lnSpc>
              <a:buSzPct val="100000"/>
              <a:buChar char="•"/>
            </a:pPr>
            <a:r>
              <a:rPr lang="en-US" sz="2000" b="1" dirty="0">
                <a:solidFill>
                  <a:srgbClr val="E6ECF4"/>
                </a:solidFill>
                <a:latin typeface="Segoe UI" pitchFamily="34" charset="0"/>
                <a:ea typeface="Segoe UI" pitchFamily="34" charset="-122"/>
                <a:cs typeface="Segoe UI" pitchFamily="34" charset="-120"/>
              </a:rPr>
              <a:t>One shared order book; bots + humans meet at the same matcher.</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Four engine hops turn a click into a conserved, broadcast fill.</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Σ Δ = 0 is the invariant that makes days of trading trustworthy.</a:t>
            </a:r>
            <a:endParaRPr lang="en-US" sz="2000" dirty="0"/>
          </a:p>
        </p:txBody>
      </p:sp>
      <p:sp>
        <p:nvSpPr>
          <p:cNvPr id="5" name="Shape 3"/>
          <p:cNvSpPr/>
          <p:nvPr/>
        </p:nvSpPr>
        <p:spPr>
          <a:xfrm>
            <a:off x="822960" y="5212080"/>
            <a:ext cx="10515600" cy="777240"/>
          </a:xfrm>
          <a:prstGeom prst="roundRect">
            <a:avLst>
              <a:gd name="adj" fmla="val 11765"/>
            </a:avLst>
          </a:prstGeom>
          <a:solidFill>
            <a:srgbClr val="182536"/>
          </a:solidFill>
          <a:ln w="12700">
            <a:solidFill>
              <a:srgbClr val="24344A"/>
            </a:solidFill>
            <a:prstDash val="solid"/>
          </a:ln>
        </p:spPr>
      </p:sp>
      <p:sp>
        <p:nvSpPr>
          <p:cNvPr id="6" name="Text 4"/>
          <p:cNvSpPr/>
          <p:nvPr/>
        </p:nvSpPr>
        <p:spPr>
          <a:xfrm>
            <a:off x="1051560" y="5212080"/>
            <a:ext cx="10058400" cy="777240"/>
          </a:xfrm>
          <a:prstGeom prst="rect">
            <a:avLst/>
          </a:prstGeom>
          <a:noFill/>
          <a:ln/>
        </p:spPr>
        <p:txBody>
          <a:bodyPr wrap="square" lIns="0" tIns="0" rIns="0" bIns="0" rtlCol="0" anchor="ctr"/>
          <a:lstStyle/>
          <a:p>
            <a:pPr indent="0" marL="0">
              <a:buNone/>
            </a:pPr>
            <a:r>
              <a:rPr lang="en-US" sz="1400" b="1" dirty="0">
                <a:solidFill>
                  <a:srgbClr val="F5B942"/>
                </a:solidFill>
                <a:latin typeface="Segoe UI" pitchFamily="34" charset="0"/>
                <a:ea typeface="Segoe UI" pitchFamily="34" charset="-122"/>
                <a:cs typeface="Segoe UI" pitchFamily="34" charset="-120"/>
              </a:rPr>
              <a:t>NEXT   </a:t>
            </a:r>
            <a:pPr indent="0" marL="0">
              <a:buNone/>
            </a:pPr>
            <a:r>
              <a:rPr lang="en-US" sz="1600" dirty="0">
                <a:solidFill>
                  <a:srgbClr val="E6ECF4"/>
                </a:solidFill>
                <a:latin typeface="Segoe UI" pitchFamily="34" charset="0"/>
                <a:ea typeface="Segoe UI" pitchFamily="34" charset="-122"/>
                <a:cs typeface="Segoe UI" pitchFamily="34" charset="-120"/>
              </a:rPr>
              <a:t>BOT_MECHANICS — who places the orders, and why price moves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6C784"/>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16C784"/>
                </a:solidFill>
                <a:latin typeface="Segoe UI" pitchFamily="34" charset="0"/>
                <a:ea typeface="Segoe UI" pitchFamily="34" charset="-122"/>
                <a:cs typeface="Segoe UI" pitchFamily="34" charset="-120"/>
              </a:rPr>
              <a:t>PRODUCT EXPLAINER · 2 OF 7 · THE CROWN JEWEL</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Why the Price Moves</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Twenty thousand bots share one book — but independent bets cancel to a flat line. Every realism mechanism exists to break that symmetry and make an emergent price look alive.</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BOT_MECHANICS.md   ·   price is engineered, not scripted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YOU ARE HERE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bots supply every order that enters the book</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44557A"/>
          </a:solidFill>
          <a:ln w="12700">
            <a:solidFill>
              <a:srgbClr val="44557A"/>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44557A"/>
          </a:solidFill>
          <a:ln w="12700">
            <a:solidFill>
              <a:srgbClr val="44557A"/>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F5B942"/>
          </a:solidFill>
          <a:ln w="12700">
            <a:solidFill>
              <a:srgbClr val="F5B942"/>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44557A"/>
          </a:solidFill>
          <a:ln w="12700">
            <a:solidFill>
              <a:srgbClr val="44557A"/>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44557A"/>
          </a:solidFill>
          <a:ln w="12700">
            <a:solidFill>
              <a:srgbClr val="44557A"/>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44557A"/>
          </a:solidFill>
          <a:ln w="12700">
            <a:solidFill>
              <a:srgbClr val="44557A"/>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44557A"/>
          </a:solidFill>
          <a:ln w="12700">
            <a:solidFill>
              <a:srgbClr val="44557A"/>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After this deck you'll understand</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why 20k independent bots would flatline the tape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taker-vs-limit asymmetry that lets price move at all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1-second loop, the strategy cohorts, and Fear/Greed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how cross-stock correlation is engineered, not simulated</a:t>
            </a:r>
            <a:endParaRPr lang="en-US" sz="1400" dirty="0"/>
          </a:p>
        </p:txBody>
      </p:sp>
      <p:sp>
        <p:nvSpPr>
          <p:cNvPr id="32" name="Shape 30"/>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A3943"/>
          </a:solidFill>
          <a:ln/>
        </p:spPr>
      </p:sp>
      <p:sp>
        <p:nvSpPr>
          <p:cNvPr id="3" name="Shape 1"/>
          <p:cNvSpPr/>
          <p:nvPr/>
        </p:nvSpPr>
        <p:spPr>
          <a:xfrm>
            <a:off x="457200" y="365760"/>
            <a:ext cx="512064" cy="512064"/>
          </a:xfrm>
          <a:prstGeom prst="roundRect">
            <a:avLst>
              <a:gd name="adj" fmla="val 12500"/>
            </a:avLst>
          </a:prstGeom>
          <a:solidFill>
            <a:srgbClr val="EA3943"/>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FIRST PRINCIPLES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Twenty thousand independent bets draw a flat line</a:t>
            </a:r>
            <a:endParaRPr lang="en-US" sz="2500" dirty="0"/>
          </a:p>
        </p:txBody>
      </p:sp>
      <p:sp>
        <p:nvSpPr>
          <p:cNvPr id="8" name="Shape 6"/>
          <p:cNvSpPr/>
          <p:nvPr/>
        </p:nvSpPr>
        <p:spPr>
          <a:xfrm>
            <a:off x="475488" y="1664208"/>
            <a:ext cx="914400" cy="0"/>
          </a:xfrm>
          <a:prstGeom prst="line">
            <a:avLst/>
          </a:prstGeom>
          <a:noFill/>
          <a:ln w="38100">
            <a:solidFill>
              <a:srgbClr val="EA3943"/>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20k bots, each a ±1 side bet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independent buy/sell draws</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Net imbalance ≈ √N</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 bets nearly cancel</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EA3943"/>
          </a:solidFill>
          <a:ln w="12700">
            <a:solidFill>
              <a:srgbClr val="EA3943"/>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Imbalance fraction ≈ 1/√N → 0</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law of large numbers</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 dead, arithmetic tape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no realistic movement</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EA3943"/>
                </a:solidFill>
                <a:latin typeface="Segoe UI" pitchFamily="34" charset="0"/>
                <a:ea typeface="Segoe UI" pitchFamily="34" charset="-122"/>
                <a:cs typeface="Segoe UI" pitchFamily="34" charset="-120"/>
              </a:rPr>
              <a:t>The core problem</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Independent bets average out — the market flatlines.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Tuning one bot's buy-probability changes almost nothing.</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Net imbalance grows with √N, not with N.</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Price barely moves — unless the draws are correlated.</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BOT_MECHANICS.md §0 — the kernel every other lever hangs off</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914400" y="2194560"/>
            <a:ext cx="10332720" cy="2468880"/>
          </a:xfrm>
          <a:prstGeom prst="rect">
            <a:avLst/>
          </a:prstGeom>
          <a:noFill/>
          <a:ln/>
        </p:spPr>
        <p:txBody>
          <a:bodyPr wrap="square" rtlCol="0" anchor="ctr"/>
          <a:lstStyle/>
          <a:p>
            <a:pPr indent="0" marL="0">
              <a:lnSpc>
                <a:spcPct val="105000"/>
              </a:lnSpc>
              <a:buNone/>
            </a:pPr>
            <a:r>
              <a:rPr lang="en-US" sz="4000" b="1" dirty="0">
                <a:solidFill>
                  <a:srgbClr val="FFFFFF"/>
                </a:solidFill>
                <a:latin typeface="Segoe UI" pitchFamily="34" charset="0"/>
                <a:ea typeface="Segoe UI" pitchFamily="34" charset="-122"/>
                <a:cs typeface="Segoe UI" pitchFamily="34" charset="-120"/>
              </a:rPr>
              <a:t>Realism here is not simulated. It is engineered correlation.</a:t>
            </a:r>
            <a:endParaRPr lang="en-US" sz="4000" dirty="0"/>
          </a:p>
        </p:txBody>
      </p:sp>
      <p:sp>
        <p:nvSpPr>
          <p:cNvPr id="3" name="Text 1"/>
          <p:cNvSpPr/>
          <p:nvPr/>
        </p:nvSpPr>
        <p:spPr>
          <a:xfrm>
            <a:off x="960120" y="4663440"/>
            <a:ext cx="10058400" cy="822960"/>
          </a:xfrm>
          <a:prstGeom prst="rect">
            <a:avLst/>
          </a:prstGeom>
          <a:noFill/>
          <a:ln/>
        </p:spPr>
        <p:txBody>
          <a:bodyPr wrap="square" rtlCol="0" anchor="ctr"/>
          <a:lstStyle/>
          <a:p>
            <a:pPr indent="0" marL="0">
              <a:buNone/>
            </a:pPr>
            <a:r>
              <a:rPr lang="en-US" sz="1800" dirty="0">
                <a:solidFill>
                  <a:srgbClr val="F5B942"/>
                </a:solidFill>
                <a:latin typeface="Segoe UI" pitchFamily="34" charset="0"/>
                <a:ea typeface="Segoe UI" pitchFamily="34" charset="-122"/>
                <a:cs typeface="Segoe UI" pitchFamily="34" charset="-120"/>
              </a:rPr>
              <a:t>Correlate the draws and imbalance scales with N, not √N.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MECHANISM</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Only taker flow actually moves the price</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Resting limit order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adds depth at one fixed level</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Opposing book absorbs it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 mid does not move</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Marketable taker order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crosses the spread, eats depth</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0E9F6E"/>
          </a:solidFill>
          <a:ln w="12700">
            <a:solidFill>
              <a:srgbClr val="0E9F6E"/>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Prints through levels → mid moves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impact ≈ direction × taker-ness × size</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Two order types, one asymmetry</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A resting limit is swallowed by the opposing book.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taker consumes depth, executes deeper — the mid moves.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Shared sentiment lands as limits, so it caps correlation ~0.08.</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Every realism lever must become taker flow to matter.</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Anchors damp the tilt · the book absorbs the limit · only the taker moves the mid</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MASTER LEVER</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conviction signal, routed three ways</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Per-stock momentum taker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 random-walk returns (ret_acf → 0)</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Shared taker burst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 cross-stock correlation</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EA3943"/>
          </a:solidFill>
          <a:ln w="12700">
            <a:solidFill>
              <a:srgbClr val="EA3943"/>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Down-skewed global shock</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 fat left tails, crashes</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Three realism fixes, one idea</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Feed one directional signal to taker flow three ways.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Per-stock momentum makes trends stick within a stock.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synchronized burst couples separate stocks together.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rare global shock delivers correlated elevator-down crashes.</a:t>
            </a:r>
            <a:endParaRPr lang="en-US" sz="1400" dirty="0"/>
          </a:p>
        </p:txBody>
      </p:sp>
      <p:sp>
        <p:nvSpPr>
          <p:cNvPr id="19" name="Shape 17"/>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1" name="Shape 19"/>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3" name="Shape 21"/>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5" name="Shape 23"/>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7" name="Shape 25"/>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9" name="Shape 27"/>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1" name="Shape 29"/>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LOOP</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loop ticks the whole market each second</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Advance the world</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sentiment · regime · news · mood</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Collect decisions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a staggered slice of the fleet</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Batch submit → match → settle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one grouped transaction</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Fills feed back</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caches · mood · load scaler</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A single-threaded heartbeat</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One thread, no locks — the phase order is load-bearing.</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World advances first, then bots read it, then orders leave.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Staggering: each tick sees only ~1/N of the fleet.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load scaler tunes how many bots the box can carry.</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AiTradeService.RunLoopAsync — 14 phases per tick, then await Task.Delay</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ONE BOT</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Each bot turns mood into a single order</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buyProb = base + directional + anchors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homeostasis · momentum · sentiment</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Pick stock, size, limit tier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fat-tail size draw · Close/Mid/Far</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Taker or limit?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conviction crosses the spread</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EA3943"/>
          </a:solidFill>
          <a:ln w="12700">
            <a:solidFill>
              <a:srgbClr val="EA3943"/>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Price-band veto</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no order crosses the cap</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From signal to a real order</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Direction is a probability summed from independent tilts.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Anchors pull toward fair value; caps bound runaway.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Aggression turns conviction into spread-crossing takers.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Every lever off collapses to the original additive line.</a:t>
            </a:r>
            <a:endParaRPr lang="en-US" sz="1400" dirty="0"/>
          </a:p>
        </p:txBody>
      </p:sp>
      <p:sp>
        <p:nvSpPr>
          <p:cNvPr id="22" name="Shape 20"/>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4" name="Shape 22"/>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6" name="Shape 24"/>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7" name="Text 2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8" name="Shape 26"/>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0" name="Shape 28"/>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2" name="Shape 30"/>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4" name="Shape 32"/>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POPULATION</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Nine strategies: amplifiers, dampers, and houses</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6279A6"/>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~½</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momentum amplifiers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trend + scalper chase the move</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6279A6"/>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5</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in-fleet strategies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MM · trend · reversion · random · scalper</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6279A6"/>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4</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dedicated cohorts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arbitrage · MM-house · rotator · conviction</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6279A6"/>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0</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RNG in cohorts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pure hashes · sells-before-buys · CK-safe</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A diverse population by design</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Amplifiers chase trends; dampers fade them.</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Houses supply liquidity, arbitrage, and the panic bid.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Cohorts run outside the loop's load-scaled span.</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Every cohort routes through the same conserved engine.</a:t>
            </a:r>
            <a:endParaRPr lang="en-US" sz="1400" dirty="0"/>
          </a:p>
        </p:txBody>
      </p:sp>
      <p:sp>
        <p:nvSpPr>
          <p:cNvPr id="27" name="Text 25"/>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Strategy is seeded per bot (Tools/Config.py STRATEGY_WEIGHTS) — cohorts 5-8 never come from the general draw</a:t>
            </a:r>
            <a:endParaRPr lang="en-US" sz="1000" dirty="0"/>
          </a:p>
        </p:txBody>
      </p:sp>
      <p:sp>
        <p:nvSpPr>
          <p:cNvPr id="28" name="Shape 26"/>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30" name="Shape 28"/>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32" name="Shape 30"/>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4" name="Shape 32"/>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6" name="Shape 34"/>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8" name="Shape 36"/>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40" name="Shape 38"/>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1" name="Text 39"/>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REGIME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Fear and Greed become a bounded taker lever</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COMPOSITE MOODSCORE · 0-100 GAUGE</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mood = 50 + 50·tanh(</a:t>
            </a: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    WMom·momZ + WBreadth·(2b−1)</a:t>
            </a: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  − WVol·volZ + WFlow·flowZ + WSent·s )</a:t>
            </a:r>
            <a:endParaRPr lang="en-US" sz="1250" dirty="0"/>
          </a:p>
          <a:p>
            <a:pPr indent="0" marL="0">
              <a:lnSpc>
                <a:spcPct val="114000"/>
              </a:lnSpc>
              <a:buNone/>
            </a:pPr>
            <a:endParaRPr lang="en-US" sz="1250" dirty="0"/>
          </a:p>
          <a:p>
            <a:pPr indent="0" marL="0">
              <a:lnSpc>
                <a:spcPct val="114000"/>
              </a:lnSpc>
              <a:buNone/>
            </a:pPr>
            <a:r>
              <a:rPr lang="en-US" sz="1250" dirty="0">
                <a:solidFill>
                  <a:srgbClr val="F5B942"/>
                </a:solidFill>
                <a:latin typeface="Consolas" pitchFamily="34" charset="0"/>
                <a:ea typeface="Consolas" pitchFamily="34" charset="-122"/>
                <a:cs typeface="Consolas" pitchFamily="34" charset="-120"/>
              </a:rPr>
              <a:t>greed/fear → taker INTENSITY, not direction</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lagged 5-min · bounded · latch = 0</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One emotional axis, fed back</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Global mood is a 0-100 gauge shown on every chart.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Lagged mood scales taker share — intensity, never direction.</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In fear, market-makers widen; conviction bots buy the panic.</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Bounded and lagged, so it can never latch into a spiral.</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MarketMoodService — sentiment = slow direction, activity = clustering, F&amp;G = regime intensity + correlation</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02</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CORRELATION</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2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pulse fires the same trade everywhere</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 market-wide pulse ticks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a shared clock, all stocks</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Co-fire cohort selected</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hash-spread across the board</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One same-sign taker, same tick</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synchronized directional burst</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0E9F6E"/>
          </a:solidFill>
          <a:ln w="12700">
            <a:solidFill>
              <a:srgbClr val="0E9F6E"/>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Cross-stock correlation ~doubles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+0.037 factorR² at 10 min</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Shared flow, not shared sentiment</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Shared sentiment is book-absorbed; shared flow is not.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synchronized taker burst couples the whole market.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Validated live: ~doubles 5-10 min correlation on prod.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cost is real — crashes get deeper and correlated.</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ExogShock GlobalCoFire — council-approved, live on prod, reversible env override</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097280"/>
            <a:ext cx="1005840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TAKEAWAYS</a:t>
            </a:r>
            <a:endParaRPr lang="en-US" sz="1300" dirty="0"/>
          </a:p>
        </p:txBody>
      </p:sp>
      <p:sp>
        <p:nvSpPr>
          <p:cNvPr id="4" name="Text 2"/>
          <p:cNvSpPr/>
          <p:nvPr/>
        </p:nvSpPr>
        <p:spPr>
          <a:xfrm>
            <a:off x="868680" y="1691640"/>
            <a:ext cx="10424160" cy="3017520"/>
          </a:xfrm>
          <a:prstGeom prst="rect">
            <a:avLst/>
          </a:prstGeom>
          <a:noFill/>
          <a:ln/>
        </p:spPr>
        <p:txBody>
          <a:bodyPr wrap="square" rtlCol="0" anchor="t"/>
          <a:lstStyle/>
          <a:p>
            <a:pPr marL="228600" indent="-228600">
              <a:lnSpc>
                <a:spcPct val="105000"/>
              </a:lnSpc>
              <a:buSzPct val="100000"/>
              <a:buChar char="•"/>
            </a:pPr>
            <a:r>
              <a:rPr lang="en-US" sz="2000" b="1" dirty="0">
                <a:solidFill>
                  <a:srgbClr val="E6ECF4"/>
                </a:solidFill>
                <a:latin typeface="Segoe UI" pitchFamily="34" charset="0"/>
                <a:ea typeface="Segoe UI" pitchFamily="34" charset="-122"/>
                <a:cs typeface="Segoe UI" pitchFamily="34" charset="-120"/>
              </a:rPr>
              <a:t>Independent bots flatline; realism is engineered correlation.</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Only taker flow moves the mid — so every lever becomes taker flow.</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One 1-second loop, nine strategies, a Fear/Greed regime — all CK-safe.</a:t>
            </a:r>
            <a:endParaRPr lang="en-US" sz="2000" dirty="0"/>
          </a:p>
        </p:txBody>
      </p:sp>
      <p:sp>
        <p:nvSpPr>
          <p:cNvPr id="5" name="Shape 3"/>
          <p:cNvSpPr/>
          <p:nvPr/>
        </p:nvSpPr>
        <p:spPr>
          <a:xfrm>
            <a:off x="822960" y="5212080"/>
            <a:ext cx="10515600" cy="777240"/>
          </a:xfrm>
          <a:prstGeom prst="roundRect">
            <a:avLst>
              <a:gd name="adj" fmla="val 11765"/>
            </a:avLst>
          </a:prstGeom>
          <a:solidFill>
            <a:srgbClr val="182536"/>
          </a:solidFill>
          <a:ln w="12700">
            <a:solidFill>
              <a:srgbClr val="24344A"/>
            </a:solidFill>
            <a:prstDash val="solid"/>
          </a:ln>
        </p:spPr>
      </p:sp>
      <p:sp>
        <p:nvSpPr>
          <p:cNvPr id="6" name="Text 4"/>
          <p:cNvSpPr/>
          <p:nvPr/>
        </p:nvSpPr>
        <p:spPr>
          <a:xfrm>
            <a:off x="1051560" y="5212080"/>
            <a:ext cx="10058400" cy="777240"/>
          </a:xfrm>
          <a:prstGeom prst="rect">
            <a:avLst/>
          </a:prstGeom>
          <a:noFill/>
          <a:ln/>
        </p:spPr>
        <p:txBody>
          <a:bodyPr wrap="square" lIns="0" tIns="0" rIns="0" bIns="0" rtlCol="0" anchor="ctr"/>
          <a:lstStyle/>
          <a:p>
            <a:pPr indent="0" marL="0">
              <a:buNone/>
            </a:pPr>
            <a:r>
              <a:rPr lang="en-US" sz="1400" b="1" dirty="0">
                <a:solidFill>
                  <a:srgbClr val="F5B942"/>
                </a:solidFill>
                <a:latin typeface="Segoe UI" pitchFamily="34" charset="0"/>
                <a:ea typeface="Segoe UI" pitchFamily="34" charset="-122"/>
                <a:cs typeface="Segoe UI" pitchFamily="34" charset="-120"/>
              </a:rPr>
              <a:t>NEXT   </a:t>
            </a:r>
            <a:pPr indent="0" marL="0">
              <a:buNone/>
            </a:pPr>
            <a:r>
              <a:rPr lang="en-US" sz="1600" dirty="0">
                <a:solidFill>
                  <a:srgbClr val="E6ECF4"/>
                </a:solidFill>
                <a:latin typeface="Segoe UI" pitchFamily="34" charset="0"/>
                <a:ea typeface="Segoe UI" pitchFamily="34" charset="-122"/>
                <a:cs typeface="Segoe UI" pitchFamily="34" charset="-120"/>
              </a:rPr>
              <a:t>ENGINE_MECHANICS — how one order matches and settles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6C784"/>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16C784"/>
                </a:solidFill>
                <a:latin typeface="Segoe UI" pitchFamily="34" charset="0"/>
                <a:ea typeface="Segoe UI" pitchFamily="34" charset="-122"/>
                <a:cs typeface="Segoe UI" pitchFamily="34" charset="-120"/>
              </a:rPr>
              <a:t>PRODUCT EXPLAINER · 3 OF 7 · THE ENGINE</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Once an Order Is Placed</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The path from a click or a bot decision to a durable, conserved fill — validate, reserve, cross the book, settle, and prove that value never appeared or vanished.</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ENGINE_MECHANICS.md   ·   the four layers, one conserved unit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YOU ARE HERE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This deck owns the four engine hops</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44557A"/>
          </a:solidFill>
          <a:ln w="12700">
            <a:solidFill>
              <a:srgbClr val="44557A"/>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44557A"/>
          </a:solidFill>
          <a:ln w="12700">
            <a:solidFill>
              <a:srgbClr val="44557A"/>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F5B942"/>
          </a:solidFill>
          <a:ln w="12700">
            <a:solidFill>
              <a:srgbClr val="F5B942"/>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F5B942"/>
          </a:solidFill>
          <a:ln w="12700">
            <a:solidFill>
              <a:srgbClr val="F5B942"/>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F5B942"/>
          </a:solidFill>
          <a:ln w="12700">
            <a:solidFill>
              <a:srgbClr val="F5B942"/>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F5B942"/>
          </a:solidFill>
          <a:ln w="12700">
            <a:solidFill>
              <a:srgbClr val="F5B942"/>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44557A"/>
          </a:solidFill>
          <a:ln w="12700">
            <a:solidFill>
              <a:srgbClr val="44557A"/>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After this deck you'll understand</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four layers each order passes through</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how a fill prints at the resting maker's price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reserve → consume → prove conservation cycle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why 20k bots fit in one ~1-second tick</a:t>
            </a:r>
            <a:endParaRPr lang="en-US" sz="1400" dirty="0"/>
          </a:p>
        </p:txBody>
      </p:sp>
      <p:sp>
        <p:nvSpPr>
          <p:cNvPr id="32" name="Shape 30"/>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FLOW</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order, four layers, one job each</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Order Entry</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validate · build · gate · delegate</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Execution</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sequence + transaction boundaries</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Matching</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cross the book, in memory only</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0E9F6E"/>
          </a:solidFill>
          <a:ln w="12700">
            <a:solidFill>
              <a:srgbClr val="0E9F6E"/>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Settlement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move value · persist · prove Σ Δ = 0</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Each hands a clean artifact on</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Entry decides if an order is well-formed and permitted.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Execution decides what runs inside which commit.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Matching produces fills but never writes the DB.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Settlement is where money and shares truly move.</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Every human click and every bot decision travels this same four-hop pipeline</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ORDER ENTRY</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Entry is the thin, permission-checked front door</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Shape-check the raw inputs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userId, stock listed in currency, qty</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0E9F6E"/>
          </a:solidFill>
          <a:ln w="12700">
            <a:solidFill>
              <a:srgbClr val="0E9F6E"/>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Build a valid Order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3 enum dims · invariants in the model</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Gate ownership on edits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'Order not found' hides others' orders</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Delegate to the engine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no book, no reserve here</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Well-formed and permitted</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Order type = 3 orthogonal enums, not a flat string.</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malformed order can't even be constructed silently.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Two-stage validation: loose params, then the built order.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Same validated Order flows per-order and batched.</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OrderEntryService · IOrderValidator · Shared/Models/Order.cs</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EXECUTION</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Every path takes locks in one fixed order</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Book lock — outermost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per (stockId, currency); held across settle</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6279A6"/>
          </a:solidFill>
          <a:ln w="12700">
            <a:solidFill>
              <a:srgbClr val="6279A6"/>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Per-user gates — inner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funds before positions, always sorted</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DB transaction — innermost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opened only after the match is done</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Deadlock-free by construction</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Nothing may reorder these three — it is sacrosanct.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Book lock spans match AND settle so rollback is safe.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Sorted gates mean two groups never AB/BA-deadlock.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Execution sequences; it never matches or moves money.</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OrderExecutionService · book → per-user gates → DB tx</a:t>
            </a:r>
            <a:endParaRPr lang="en-US" sz="1000" dirty="0"/>
          </a:p>
        </p:txBody>
      </p:sp>
      <p:sp>
        <p:nvSpPr>
          <p:cNvPr id="20" name="Shape 18"/>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MATCHING</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Every fill prints at the resting maker's price</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ORDER BOOK · (stockId, USD)</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ASK  25.27   x40</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ASK  25.25   x10   &lt;- best (maker)</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a:t>
            </a:r>
            <a:endParaRPr lang="en-US" sz="1250" dirty="0"/>
          </a:p>
          <a:p>
            <a:pPr indent="0" marL="0">
              <a:lnSpc>
                <a:spcPct val="114000"/>
              </a:lnSpc>
              <a:buNone/>
            </a:pPr>
            <a:r>
              <a:rPr lang="en-US" sz="1250" dirty="0">
                <a:solidFill>
                  <a:srgbClr val="7FE3AD"/>
                </a:solidFill>
                <a:latin typeface="Consolas" pitchFamily="34" charset="0"/>
                <a:ea typeface="Consolas" pitchFamily="34" charset="-122"/>
                <a:cs typeface="Consolas" pitchFamily="34" charset="-120"/>
              </a:rPr>
              <a:t>BID  25.20   x60</a:t>
            </a:r>
            <a:endParaRPr lang="en-US" sz="1250" dirty="0"/>
          </a:p>
          <a:p>
            <a:pPr indent="0" marL="0">
              <a:lnSpc>
                <a:spcPct val="114000"/>
              </a:lnSpc>
              <a:buNone/>
            </a:pPr>
            <a:endParaRPr lang="en-US" sz="1250" dirty="0"/>
          </a:p>
          <a:p>
            <a:pPr indent="0" marL="0">
              <a:lnSpc>
                <a:spcPct val="114000"/>
              </a:lnSpc>
              <a:buNone/>
            </a:pPr>
            <a:r>
              <a:rPr lang="en-US" sz="1250" dirty="0">
                <a:solidFill>
                  <a:srgbClr val="F5B942"/>
                </a:solidFill>
                <a:latin typeface="Consolas" pitchFamily="34" charset="0"/>
                <a:ea typeface="Consolas" pitchFamily="34" charset="-122"/>
                <a:cs typeface="Consolas" pitchFamily="34" charset="-120"/>
              </a:rPr>
              <a:t>taker: BUY 10 @ 25.30</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25.25 &lt;= 25.30  -&gt; crosses</a:t>
            </a: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  Transaction(qty=10, price=25.25)</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Price-time priority</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resting order sets the price; the aggressor pays the touch.</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matcher walks the book, best price first.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Only open limit orders ever rest in the book.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It emits fills in memory — it never writes the DB.</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OrderBook · MatchingEngine.Match · one Transaction per maker consumed</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WORKED TRACE · 1 OF 3</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Reserve fences the cash before any match</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RESERVE · SETTLEMENT PRE-MATCH</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300" dirty="0">
                <a:solidFill>
                  <a:srgbClr val="F5B942"/>
                </a:solidFill>
                <a:latin typeface="Consolas" pitchFamily="34" charset="0"/>
                <a:ea typeface="Consolas" pitchFamily="34" charset="-122"/>
                <a:cs typeface="Consolas" pitchFamily="34" charset="-120"/>
              </a:rPr>
              <a:t>limit buy  10 @ 25.30</a:t>
            </a:r>
            <a:endParaRPr lang="en-US" sz="1300" dirty="0"/>
          </a:p>
          <a:p>
            <a:pPr indent="0" marL="0">
              <a:lnSpc>
                <a:spcPct val="114000"/>
              </a:lnSpc>
              <a:buNone/>
            </a:pPr>
            <a:endParaRPr lang="en-US" sz="1300" dirty="0"/>
          </a:p>
          <a:p>
            <a:pPr indent="0" marL="0">
              <a:lnSpc>
                <a:spcPct val="114000"/>
              </a:lnSpc>
              <a:buNone/>
            </a:pPr>
            <a:r>
              <a:rPr lang="en-US" sz="1300" dirty="0">
                <a:solidFill>
                  <a:srgbClr val="D8E0EC"/>
                </a:solidFill>
                <a:latin typeface="Consolas" pitchFamily="34" charset="0"/>
                <a:ea typeface="Consolas" pitchFamily="34" charset="-122"/>
                <a:cs typeface="Consolas" pitchFamily="34" charset="-120"/>
              </a:rPr>
              <a:t>reserve = RoundMoney(25.30 x 10)</a:t>
            </a:r>
            <a:endParaRPr lang="en-US" sz="1300" dirty="0"/>
          </a:p>
          <a:p>
            <a:pPr indent="0" marL="0">
              <a:lnSpc>
                <a:spcPct val="114000"/>
              </a:lnSpc>
              <a:buNone/>
            </a:pPr>
            <a:r>
              <a:rPr lang="en-US" sz="1300" dirty="0">
                <a:solidFill>
                  <a:srgbClr val="D8E0EC"/>
                </a:solidFill>
                <a:latin typeface="Consolas" pitchFamily="34" charset="0"/>
                <a:ea typeface="Consolas" pitchFamily="34" charset="-122"/>
                <a:cs typeface="Consolas" pitchFamily="34" charset="-120"/>
              </a:rPr>
              <a:t>        = 253.00</a:t>
            </a:r>
            <a:endParaRPr lang="en-US" sz="1300" dirty="0"/>
          </a:p>
          <a:p>
            <a:pPr indent="0" marL="0">
              <a:lnSpc>
                <a:spcPct val="114000"/>
              </a:lnSpc>
              <a:buNone/>
            </a:pPr>
            <a:endParaRPr lang="en-US" sz="1300" dirty="0"/>
          </a:p>
          <a:p>
            <a:pPr indent="0" marL="0">
              <a:lnSpc>
                <a:spcPct val="114000"/>
              </a:lnSpc>
              <a:buNone/>
            </a:pPr>
            <a:r>
              <a:rPr lang="en-US" sz="1300" dirty="0">
                <a:solidFill>
                  <a:srgbClr val="9FE7C6"/>
                </a:solidFill>
                <a:latin typeface="Consolas" pitchFamily="34" charset="0"/>
                <a:ea typeface="Consolas" pitchFamily="34" charset="-122"/>
                <a:cs typeface="Consolas" pitchFamily="34" charset="-120"/>
              </a:rPr>
              <a:t>Fund.ReservedBalance += 253.00</a:t>
            </a:r>
            <a:endParaRPr lang="en-US" sz="1300" dirty="0"/>
          </a:p>
          <a:p>
            <a:pPr indent="0" marL="0">
              <a:lnSpc>
                <a:spcPct val="114000"/>
              </a:lnSpc>
              <a:buNone/>
            </a:pPr>
            <a:r>
              <a:rPr lang="en-US" sz="1300" dirty="0">
                <a:solidFill>
                  <a:srgbClr val="D8E0EC"/>
                </a:solidFill>
                <a:latin typeface="Consolas" pitchFamily="34" charset="0"/>
                <a:ea typeface="Consolas" pitchFamily="34" charset="-122"/>
                <a:cs typeface="Consolas" pitchFamily="34" charset="-120"/>
              </a:rPr>
              <a:t>Fund.TotalBalance      unchanged</a:t>
            </a:r>
            <a:endParaRPr lang="en-US" sz="1300" dirty="0"/>
          </a:p>
          <a:p>
            <a:pPr indent="0" marL="0">
              <a:lnSpc>
                <a:spcPct val="114000"/>
              </a:lnSpc>
              <a:buNone/>
            </a:pPr>
            <a:endParaRPr lang="en-US" sz="1300" dirty="0"/>
          </a:p>
          <a:p>
            <a:pPr indent="0" marL="0">
              <a:lnSpc>
                <a:spcPct val="114000"/>
              </a:lnSpc>
              <a:buNone/>
            </a:pPr>
            <a:r>
              <a:rPr lang="en-US" sz="1300" dirty="0">
                <a:solidFill>
                  <a:srgbClr val="D8E0EC"/>
                </a:solidFill>
                <a:latin typeface="Consolas" pitchFamily="34" charset="0"/>
                <a:ea typeface="Consolas" pitchFamily="34" charset="-122"/>
                <a:cs typeface="Consolas" pitchFamily="34" charset="-120"/>
              </a:rPr>
              <a:t>order.CurrentBuyReservation = 253.00</a:t>
            </a:r>
            <a:endParaRPr lang="en-US" sz="130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Held from placement</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Cash moves available → reserved; the total never changes.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An unfilled order's cash can't be double-spent.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Per-order field and cache aggregate stay in lock-step.</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order row is inserted and gets its real OrderId.</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OrderSettler.SettleAsync · Fund.ReserveFunds · reserve at place, consume at fill</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WORKED TRACE · 2 OF 3</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It fills at 25.25 and releases the 0.50 surplus</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MATCH + CONSUME</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F5B942"/>
                </a:solidFill>
                <a:latin typeface="Consolas" pitchFamily="34" charset="0"/>
                <a:ea typeface="Consolas" pitchFamily="34" charset="-122"/>
                <a:cs typeface="Consolas" pitchFamily="34" charset="-120"/>
              </a:rPr>
              <a:t>prints at the MAKER's price -&gt; 25.25</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notional = RoundMoney(10 x 25.25) = 252.50</a:t>
            </a:r>
            <a:endParaRPr lang="en-US" sz="1250" dirty="0"/>
          </a:p>
          <a:p>
            <a:pPr indent="0" marL="0">
              <a:lnSpc>
                <a:spcPct val="114000"/>
              </a:lnSpc>
              <a:buNone/>
            </a:pP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ConsumeReservedFunds(252.50)</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Reserved and Total drop together</a:t>
            </a:r>
            <a:endParaRPr lang="en-US" sz="1250" dirty="0"/>
          </a:p>
          <a:p>
            <a:pPr indent="0" marL="0">
              <a:lnSpc>
                <a:spcPct val="114000"/>
              </a:lnSpc>
              <a:buNone/>
            </a:pP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over-reserved by (25.30-25.25)x10 = 0.50</a:t>
            </a: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UnreserveFunds(0.50)  -&gt; back to available</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buyer Qty += 10   seller Total += 252.50</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Consume, then refund the savings</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buyer pays from its OWN reservation, not blindly.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It reserved at 25.30 but fills at 25.25.</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0.50 savings is unreserved back to available.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Finer price decimals never leak cash out of the hold.</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TradeSettler.SettleNoTxAsync · savings = (perUnitReserved − price) × qty</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A3943"/>
          </a:solidFill>
          <a:ln/>
        </p:spPr>
      </p:sp>
      <p:sp>
        <p:nvSpPr>
          <p:cNvPr id="3" name="Shape 1"/>
          <p:cNvSpPr/>
          <p:nvPr/>
        </p:nvSpPr>
        <p:spPr>
          <a:xfrm>
            <a:off x="457200" y="365760"/>
            <a:ext cx="512064" cy="512064"/>
          </a:xfrm>
          <a:prstGeom prst="roundRect">
            <a:avLst>
              <a:gd name="adj" fmla="val 12500"/>
            </a:avLst>
          </a:prstGeom>
          <a:solidFill>
            <a:srgbClr val="EA3943"/>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WORKED TRACE · 3 OF 3</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probe proves the batch conserved value</a:t>
            </a:r>
            <a:endParaRPr lang="en-US" sz="2500" dirty="0"/>
          </a:p>
        </p:txBody>
      </p:sp>
      <p:sp>
        <p:nvSpPr>
          <p:cNvPr id="8" name="Shape 6"/>
          <p:cNvSpPr/>
          <p:nvPr/>
        </p:nvSpPr>
        <p:spPr>
          <a:xfrm>
            <a:off x="475488" y="1664208"/>
            <a:ext cx="914400" cy="0"/>
          </a:xfrm>
          <a:prstGeom prst="line">
            <a:avLst/>
          </a:prstGeom>
          <a:noFill/>
          <a:ln w="38100">
            <a:solidFill>
              <a:srgbClr val="EA3943"/>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CONSERVATION PROBE · BEFORE COMMIT</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350" dirty="0">
                <a:solidFill>
                  <a:srgbClr val="F5A3A9"/>
                </a:solidFill>
                <a:latin typeface="Consolas" pitchFamily="34" charset="0"/>
                <a:ea typeface="Consolas" pitchFamily="34" charset="-122"/>
                <a:cs typeface="Consolas" pitchFamily="34" charset="-120"/>
              </a:rPr>
              <a:t>buyer  ΔTotal = -252.50</a:t>
            </a:r>
            <a:endParaRPr lang="en-US" sz="1350" dirty="0"/>
          </a:p>
          <a:p>
            <a:pPr indent="0" marL="0">
              <a:lnSpc>
                <a:spcPct val="114000"/>
              </a:lnSpc>
              <a:buNone/>
            </a:pPr>
            <a:r>
              <a:rPr lang="en-US" sz="1350" dirty="0">
                <a:solidFill>
                  <a:srgbClr val="7FE3AD"/>
                </a:solidFill>
                <a:latin typeface="Consolas" pitchFamily="34" charset="0"/>
                <a:ea typeface="Consolas" pitchFamily="34" charset="-122"/>
                <a:cs typeface="Consolas" pitchFamily="34" charset="-120"/>
              </a:rPr>
              <a:t>seller ΔTotal = +252.50</a:t>
            </a:r>
            <a:endParaRPr lang="en-US" sz="1350" dirty="0"/>
          </a:p>
          <a:p>
            <a:pPr indent="0" marL="0">
              <a:lnSpc>
                <a:spcPct val="114000"/>
              </a:lnSpc>
              <a:buNone/>
            </a:pPr>
            <a:r>
              <a:rPr lang="en-US" sz="1350" dirty="0">
                <a:solidFill>
                  <a:srgbClr val="D8E0EC"/>
                </a:solidFill>
                <a:latin typeface="Consolas" pitchFamily="34" charset="0"/>
                <a:ea typeface="Consolas" pitchFamily="34" charset="-122"/>
                <a:cs typeface="Consolas" pitchFamily="34" charset="-120"/>
              </a:rPr>
              <a:t>               ---------</a:t>
            </a:r>
            <a:endParaRPr lang="en-US" sz="1350" dirty="0"/>
          </a:p>
          <a:p>
            <a:pPr indent="0" marL="0">
              <a:lnSpc>
                <a:spcPct val="114000"/>
              </a:lnSpc>
              <a:buNone/>
            </a:pPr>
            <a:r>
              <a:rPr lang="en-US" sz="1350" dirty="0">
                <a:solidFill>
                  <a:srgbClr val="F5B942"/>
                </a:solidFill>
                <a:latin typeface="Consolas" pitchFamily="34" charset="0"/>
                <a:ea typeface="Consolas" pitchFamily="34" charset="-122"/>
                <a:cs typeface="Consolas" pitchFamily="34" charset="-120"/>
              </a:rPr>
              <a:t>          Σ  =   0.00</a:t>
            </a:r>
            <a:endParaRPr lang="en-US" sz="1350" dirty="0"/>
          </a:p>
          <a:p>
            <a:pPr indent="0" marL="0">
              <a:lnSpc>
                <a:spcPct val="114000"/>
              </a:lnSpc>
              <a:buNone/>
            </a:pPr>
            <a:endParaRPr lang="en-US" sz="1350" dirty="0"/>
          </a:p>
          <a:p>
            <a:pPr indent="0" marL="0">
              <a:lnSpc>
                <a:spcPct val="114000"/>
              </a:lnSpc>
              <a:buNone/>
            </a:pPr>
            <a:r>
              <a:rPr lang="en-US" sz="1350" dirty="0">
                <a:solidFill>
                  <a:srgbClr val="7FE3AD"/>
                </a:solidFill>
                <a:latin typeface="Consolas" pitchFamily="34" charset="0"/>
                <a:ea typeface="Consolas" pitchFamily="34" charset="-122"/>
                <a:cs typeface="Consolas" pitchFamily="34" charset="-120"/>
              </a:rPr>
              <a:t>buyer  ΔQty = +10</a:t>
            </a:r>
            <a:endParaRPr lang="en-US" sz="1350" dirty="0"/>
          </a:p>
          <a:p>
            <a:pPr indent="0" marL="0">
              <a:lnSpc>
                <a:spcPct val="114000"/>
              </a:lnSpc>
              <a:buNone/>
            </a:pPr>
            <a:r>
              <a:rPr lang="en-US" sz="1350" dirty="0">
                <a:solidFill>
                  <a:srgbClr val="F5A3A9"/>
                </a:solidFill>
                <a:latin typeface="Consolas" pitchFamily="34" charset="0"/>
                <a:ea typeface="Consolas" pitchFamily="34" charset="-122"/>
                <a:cs typeface="Consolas" pitchFamily="34" charset="-120"/>
              </a:rPr>
              <a:t>seller ΔQty = -10</a:t>
            </a:r>
            <a:endParaRPr lang="en-US" sz="1350" dirty="0"/>
          </a:p>
          <a:p>
            <a:pPr indent="0" marL="0">
              <a:lnSpc>
                <a:spcPct val="114000"/>
              </a:lnSpc>
              <a:buNone/>
            </a:pPr>
            <a:r>
              <a:rPr lang="en-US" sz="1350" dirty="0">
                <a:solidFill>
                  <a:srgbClr val="F5B942"/>
                </a:solidFill>
                <a:latin typeface="Consolas" pitchFamily="34" charset="0"/>
                <a:ea typeface="Consolas" pitchFamily="34" charset="-122"/>
                <a:cs typeface="Consolas" pitchFamily="34" charset="-120"/>
              </a:rPr>
              <a:t>          Σ  =   0</a:t>
            </a:r>
            <a:endParaRPr lang="en-US" sz="1350" dirty="0"/>
          </a:p>
          <a:p>
            <a:pPr indent="0" marL="0">
              <a:lnSpc>
                <a:spcPct val="114000"/>
              </a:lnSpc>
              <a:buNone/>
            </a:pPr>
            <a:endParaRPr lang="en-US" sz="1350" dirty="0"/>
          </a:p>
          <a:p>
            <a:pPr indent="0" marL="0">
              <a:lnSpc>
                <a:spcPct val="114000"/>
              </a:lnSpc>
              <a:buNone/>
            </a:pPr>
            <a:r>
              <a:rPr lang="en-US" sz="1350" dirty="0">
                <a:solidFill>
                  <a:srgbClr val="F5B942"/>
                </a:solidFill>
                <a:latin typeface="Consolas" pitchFamily="34" charset="0"/>
                <a:ea typeface="Consolas" pitchFamily="34" charset="-122"/>
                <a:cs typeface="Consolas" pitchFamily="34" charset="-120"/>
              </a:rPr>
              <a:t>commit.</a:t>
            </a:r>
            <a:endParaRPr lang="en-US" sz="13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EA3943"/>
                </a:solidFill>
                <a:latin typeface="Segoe UI" pitchFamily="34" charset="0"/>
                <a:ea typeface="Segoe UI" pitchFamily="34" charset="-122"/>
                <a:cs typeface="Segoe UI" pitchFamily="34" charset="-120"/>
              </a:rPr>
              <a:t>Σ Δ = 0, or the soak fails</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Money sums to zero per currency; shares per stock.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Checked after the apply-pass, before the DB write.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single non-zero net logs an error and trips the gate.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Only then does the transaction commit.</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ConservationProbe.Check · the batch created or destroyed neither money nor shares</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914400" y="2194560"/>
            <a:ext cx="10332720" cy="2468880"/>
          </a:xfrm>
          <a:prstGeom prst="rect">
            <a:avLst/>
          </a:prstGeom>
          <a:noFill/>
          <a:ln/>
        </p:spPr>
        <p:txBody>
          <a:bodyPr wrap="square" rtlCol="0" anchor="ctr"/>
          <a:lstStyle/>
          <a:p>
            <a:pPr indent="0" marL="0">
              <a:lnSpc>
                <a:spcPct val="105000"/>
              </a:lnSpc>
              <a:buNone/>
            </a:pPr>
            <a:r>
              <a:rPr lang="en-US" sz="4000" b="1" dirty="0">
                <a:solidFill>
                  <a:srgbClr val="FFFFFF"/>
                </a:solidFill>
                <a:latin typeface="Segoe UI" pitchFamily="34" charset="0"/>
                <a:ea typeface="Segoe UI" pitchFamily="34" charset="-122"/>
                <a:cs typeface="Segoe UI" pitchFamily="34" charset="-120"/>
              </a:rPr>
              <a:t>Value moved between two accounts. The market's totals never budged.</a:t>
            </a:r>
            <a:endParaRPr lang="en-US" sz="4000" dirty="0"/>
          </a:p>
        </p:txBody>
      </p:sp>
      <p:sp>
        <p:nvSpPr>
          <p:cNvPr id="3" name="Text 1"/>
          <p:cNvSpPr/>
          <p:nvPr/>
        </p:nvSpPr>
        <p:spPr>
          <a:xfrm>
            <a:off x="960120" y="4663440"/>
            <a:ext cx="10058400" cy="822960"/>
          </a:xfrm>
          <a:prstGeom prst="rect">
            <a:avLst/>
          </a:prstGeom>
          <a:noFill/>
          <a:ln/>
        </p:spPr>
        <p:txBody>
          <a:bodyPr wrap="square" rtlCol="0" anchor="ctr"/>
          <a:lstStyle/>
          <a:p>
            <a:pPr indent="0" marL="0">
              <a:buNone/>
            </a:pPr>
            <a:r>
              <a:rPr lang="en-US" sz="1800" dirty="0">
                <a:solidFill>
                  <a:srgbClr val="F5B942"/>
                </a:solidFill>
                <a:latin typeface="Segoe UI" pitchFamily="34" charset="0"/>
                <a:ea typeface="Segoe UI" pitchFamily="34" charset="-122"/>
                <a:cs typeface="Segoe UI" pitchFamily="34" charset="-120"/>
              </a:rPr>
              <a:t>Σ Δ = 0 — proven before every commit, under 20k-bot load, for days.</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A3943"/>
          </a:solidFill>
          <a:ln/>
        </p:spPr>
      </p:sp>
      <p:sp>
        <p:nvSpPr>
          <p:cNvPr id="3" name="Shape 1"/>
          <p:cNvSpPr/>
          <p:nvPr/>
        </p:nvSpPr>
        <p:spPr>
          <a:xfrm>
            <a:off x="457200" y="365760"/>
            <a:ext cx="512064" cy="512064"/>
          </a:xfrm>
          <a:prstGeom prst="roundRect">
            <a:avLst>
              <a:gd name="adj" fmla="val 12500"/>
            </a:avLst>
          </a:prstGeom>
          <a:solidFill>
            <a:srgbClr val="EA3943"/>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CONSERVATION</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Two guards, one invariant that never breaks</a:t>
            </a:r>
            <a:endParaRPr lang="en-US" sz="2500" dirty="0"/>
          </a:p>
        </p:txBody>
      </p:sp>
      <p:sp>
        <p:nvSpPr>
          <p:cNvPr id="8" name="Shape 6"/>
          <p:cNvSpPr/>
          <p:nvPr/>
        </p:nvSpPr>
        <p:spPr>
          <a:xfrm>
            <a:off x="475488" y="1664208"/>
            <a:ext cx="914400" cy="0"/>
          </a:xfrm>
          <a:prstGeom prst="line">
            <a:avLst/>
          </a:prstGeom>
          <a:noFill/>
          <a:ln w="38100">
            <a:solidFill>
              <a:srgbClr val="EA3943"/>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CROSS-ROW PROBE + PER-ROW CHECK</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cross-row:  ConservationProbe</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Σ ΔTotal == 0   per currency</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Σ ΔQty   == 0   per stock</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  non-zero -&gt; LogError, soak fails</a:t>
            </a:r>
            <a:endParaRPr lang="en-US" sz="1250" dirty="0"/>
          </a:p>
          <a:p>
            <a:pPr indent="0" marL="0">
              <a:lnSpc>
                <a:spcPct val="114000"/>
              </a:lnSpc>
              <a:buNone/>
            </a:pP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per-row:  Postgres CHECK</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Total &gt;= 0 · Reserved &lt;= Total</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  a row can't commit illegal</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EA3943"/>
                </a:solidFill>
                <a:latin typeface="Segoe UI" pitchFamily="34" charset="0"/>
                <a:ea typeface="Segoe UI" pitchFamily="34" charset="-122"/>
                <a:cs typeface="Segoe UI" pitchFamily="34" charset="-120"/>
              </a:rPr>
              <a:t>Reports, and enforces</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Conservation is guaranteed by construction — the probe reports it.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committed non-zero net means a logic bug shipped.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DB CHECK constraints are the hard per-row backstop.</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row can be legal yet the batch still leak — hence both.</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ConservationProbe (cross-row) · CK_Funds / CK_Positions CHECK constraints (per-row)</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THROUGHPUT</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Batching fits a 20k-bot tick under one second</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1240536"/>
          </a:xfrm>
          <a:prstGeom prst="roundRect">
            <a:avLst>
              <a:gd name="adj" fmla="val 4423"/>
            </a:avLst>
          </a:prstGeom>
          <a:solidFill>
            <a:srgbClr val="FFFFFF"/>
          </a:solidFill>
          <a:ln w="12700">
            <a:solidFill>
              <a:srgbClr val="E2E7EF"/>
            </a:solidFill>
            <a:prstDash val="solid"/>
          </a:ln>
        </p:spPr>
      </p:sp>
      <p:sp>
        <p:nvSpPr>
          <p:cNvPr id="10" name="Shape 8"/>
          <p:cNvSpPr/>
          <p:nvPr/>
        </p:nvSpPr>
        <p:spPr>
          <a:xfrm>
            <a:off x="457200" y="1828800"/>
            <a:ext cx="91440" cy="1240536"/>
          </a:xfrm>
          <a:prstGeom prst="rect">
            <a:avLst/>
          </a:prstGeom>
          <a:solidFill>
            <a:srgbClr val="6279A6"/>
          </a:solidFill>
          <a:ln/>
        </p:spPr>
      </p:sp>
      <p:sp>
        <p:nvSpPr>
          <p:cNvPr id="11" name="Text 9"/>
          <p:cNvSpPr/>
          <p:nvPr/>
        </p:nvSpPr>
        <p:spPr>
          <a:xfrm>
            <a:off x="713232" y="1828800"/>
            <a:ext cx="2286000" cy="1240536"/>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1</a:t>
            </a:r>
            <a:endParaRPr lang="en-US" sz="2500" dirty="0"/>
          </a:p>
        </p:txBody>
      </p:sp>
      <p:sp>
        <p:nvSpPr>
          <p:cNvPr id="12" name="Text 10"/>
          <p:cNvSpPr/>
          <p:nvPr/>
        </p:nvSpPr>
        <p:spPr>
          <a:xfrm>
            <a:off x="2971800" y="1828800"/>
            <a:ext cx="2377440" cy="1240536"/>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insert commit</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the whole tick, not one per order</a:t>
            </a:r>
            <a:endParaRPr lang="en-US" sz="1300" dirty="0"/>
          </a:p>
        </p:txBody>
      </p:sp>
      <p:sp>
        <p:nvSpPr>
          <p:cNvPr id="13" name="Shape 11"/>
          <p:cNvSpPr/>
          <p:nvPr/>
        </p:nvSpPr>
        <p:spPr>
          <a:xfrm>
            <a:off x="457200" y="3288792"/>
            <a:ext cx="5074920" cy="1240536"/>
          </a:xfrm>
          <a:prstGeom prst="roundRect">
            <a:avLst>
              <a:gd name="adj" fmla="val 4423"/>
            </a:avLst>
          </a:prstGeom>
          <a:solidFill>
            <a:srgbClr val="FFFFFF"/>
          </a:solidFill>
          <a:ln w="12700">
            <a:solidFill>
              <a:srgbClr val="E2E7EF"/>
            </a:solidFill>
            <a:prstDash val="solid"/>
          </a:ln>
        </p:spPr>
      </p:sp>
      <p:sp>
        <p:nvSpPr>
          <p:cNvPr id="14" name="Shape 12"/>
          <p:cNvSpPr/>
          <p:nvPr/>
        </p:nvSpPr>
        <p:spPr>
          <a:xfrm>
            <a:off x="457200" y="3288792"/>
            <a:ext cx="91440" cy="1240536"/>
          </a:xfrm>
          <a:prstGeom prst="rect">
            <a:avLst/>
          </a:prstGeom>
          <a:solidFill>
            <a:srgbClr val="6279A6"/>
          </a:solidFill>
          <a:ln/>
        </p:spPr>
      </p:sp>
      <p:sp>
        <p:nvSpPr>
          <p:cNvPr id="15" name="Text 13"/>
          <p:cNvSpPr/>
          <p:nvPr/>
        </p:nvSpPr>
        <p:spPr>
          <a:xfrm>
            <a:off x="713232" y="3288792"/>
            <a:ext cx="2286000" cy="1240536"/>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N → 1</a:t>
            </a:r>
            <a:endParaRPr lang="en-US" sz="2500" dirty="0"/>
          </a:p>
        </p:txBody>
      </p:sp>
      <p:sp>
        <p:nvSpPr>
          <p:cNvPr id="16" name="Text 14"/>
          <p:cNvSpPr/>
          <p:nvPr/>
        </p:nvSpPr>
        <p:spPr>
          <a:xfrm>
            <a:off x="2971800" y="3288792"/>
            <a:ext cx="2377440" cy="1240536"/>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settle commits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one per book group, run in parallel</a:t>
            </a:r>
            <a:endParaRPr lang="en-US" sz="1300" dirty="0"/>
          </a:p>
        </p:txBody>
      </p:sp>
      <p:sp>
        <p:nvSpPr>
          <p:cNvPr id="17" name="Shape 15"/>
          <p:cNvSpPr/>
          <p:nvPr/>
        </p:nvSpPr>
        <p:spPr>
          <a:xfrm>
            <a:off x="457200" y="4748784"/>
            <a:ext cx="5074920" cy="1240536"/>
          </a:xfrm>
          <a:prstGeom prst="roundRect">
            <a:avLst>
              <a:gd name="adj" fmla="val 4423"/>
            </a:avLst>
          </a:prstGeom>
          <a:solidFill>
            <a:srgbClr val="FFFFFF"/>
          </a:solidFill>
          <a:ln w="12700">
            <a:solidFill>
              <a:srgbClr val="E2E7EF"/>
            </a:solidFill>
            <a:prstDash val="solid"/>
          </a:ln>
        </p:spPr>
      </p:sp>
      <p:sp>
        <p:nvSpPr>
          <p:cNvPr id="18" name="Shape 16"/>
          <p:cNvSpPr/>
          <p:nvPr/>
        </p:nvSpPr>
        <p:spPr>
          <a:xfrm>
            <a:off x="457200" y="4748784"/>
            <a:ext cx="91440" cy="1240536"/>
          </a:xfrm>
          <a:prstGeom prst="rect">
            <a:avLst/>
          </a:prstGeom>
          <a:solidFill>
            <a:srgbClr val="6279A6"/>
          </a:solidFill>
          <a:ln/>
        </p:spPr>
      </p:sp>
      <p:sp>
        <p:nvSpPr>
          <p:cNvPr id="19" name="Text 17"/>
          <p:cNvSpPr/>
          <p:nvPr/>
        </p:nvSpPr>
        <p:spPr>
          <a:xfrm>
            <a:off x="713232" y="4748784"/>
            <a:ext cx="2286000" cy="1240536"/>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20k</a:t>
            </a:r>
            <a:endParaRPr lang="en-US" sz="2500" dirty="0"/>
          </a:p>
        </p:txBody>
      </p:sp>
      <p:sp>
        <p:nvSpPr>
          <p:cNvPr id="20" name="Text 18"/>
          <p:cNvSpPr/>
          <p:nvPr/>
        </p:nvSpPr>
        <p:spPr>
          <a:xfrm>
            <a:off x="2971800" y="4748784"/>
            <a:ext cx="2377440" cy="1240536"/>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bots per tick</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one PlaceAndMatchBatchAsync call</a:t>
            </a:r>
            <a:endParaRPr lang="en-US" sz="1300" dirty="0"/>
          </a:p>
        </p:txBody>
      </p:sp>
      <p:sp>
        <p:nvSpPr>
          <p:cNvPr id="21" name="Text 19"/>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The engine is commit-bound</a:t>
            </a:r>
            <a:endParaRPr lang="en-US" sz="1400" dirty="0"/>
          </a:p>
        </p:txBody>
      </p:sp>
      <p:sp>
        <p:nvSpPr>
          <p:cNvPr id="22" name="Text 20"/>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cost is the fsync on commit, not the CPU.</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Reserve and match in memory against the cache.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Touch the disk in as few, as-parallel commits as safe.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Bots take the identical path — one shared matcher.</a:t>
            </a:r>
            <a:endParaRPr lang="en-US" sz="1400" dirty="0"/>
          </a:p>
        </p:txBody>
      </p:sp>
      <p:sp>
        <p:nvSpPr>
          <p:cNvPr id="23" name="Text 21"/>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PlaceAndMatchBatchAsync · reserve-in-cache → bulk-insert → per-group settle</a:t>
            </a:r>
            <a:endParaRPr lang="en-US" sz="1000" dirty="0"/>
          </a:p>
        </p:txBody>
      </p:sp>
      <p:sp>
        <p:nvSpPr>
          <p:cNvPr id="24" name="Shape 22"/>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6" name="Shape 24"/>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8" name="Shape 26"/>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0" name="Shape 28"/>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1" name="Text 29"/>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2" name="Shape 30"/>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4" name="Shape 32"/>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6" name="Shape 34"/>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03</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MACHINERY UNDER IT</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3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Multi-table writes commit atomically or not at all</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RunInTransactionAsync</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up to 5 tables, one atomic commit</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0E9F6E"/>
          </a:solidFill>
          <a:ln w="12700">
            <a:solidFill>
              <a:srgbClr val="0E9F6E"/>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AsyncLocal ambient tx</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deep Dapper calls auto-enroll</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Nested savepoints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one group rolls back, others commit</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Atomicity as a scope, not a signature</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One bot trade can mutate five tables — they land together.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No transaction parameter threaded through any method.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Savepoints give per-group rollback inside one root tx.</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FX spread on conversions funds a pure-profit house.</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PgDBService · Postgres via hand-written Dapper · FxRateService bounded AR(1) walk</a:t>
            </a:r>
            <a:endParaRPr lang="en-US" sz="1000" dirty="0"/>
          </a:p>
        </p:txBody>
      </p:sp>
      <p:sp>
        <p:nvSpPr>
          <p:cNvPr id="20" name="Shape 18"/>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097280"/>
            <a:ext cx="1005840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TAKEAWAYS</a:t>
            </a:r>
            <a:endParaRPr lang="en-US" sz="1300" dirty="0"/>
          </a:p>
        </p:txBody>
      </p:sp>
      <p:sp>
        <p:nvSpPr>
          <p:cNvPr id="4" name="Text 2"/>
          <p:cNvSpPr/>
          <p:nvPr/>
        </p:nvSpPr>
        <p:spPr>
          <a:xfrm>
            <a:off x="868680" y="1691640"/>
            <a:ext cx="10424160" cy="3017520"/>
          </a:xfrm>
          <a:prstGeom prst="rect">
            <a:avLst/>
          </a:prstGeom>
          <a:noFill/>
          <a:ln/>
        </p:spPr>
        <p:txBody>
          <a:bodyPr wrap="square" rtlCol="0" anchor="t"/>
          <a:lstStyle/>
          <a:p>
            <a:pPr marL="228600" indent="-228600">
              <a:lnSpc>
                <a:spcPct val="105000"/>
              </a:lnSpc>
              <a:buSzPct val="100000"/>
              <a:buChar char="•"/>
            </a:pPr>
            <a:r>
              <a:rPr lang="en-US" sz="2000" b="1" dirty="0">
                <a:solidFill>
                  <a:srgbClr val="E6ECF4"/>
                </a:solidFill>
                <a:latin typeface="Segoe UI" pitchFamily="34" charset="0"/>
                <a:ea typeface="Segoe UI" pitchFamily="34" charset="-122"/>
                <a:cs typeface="Segoe UI" pitchFamily="34" charset="-120"/>
              </a:rPr>
              <a:t>Four layers: entry validates, execution sequences, matching crosses, settlement moves value.</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A fill prints at the maker's price; the buyer pays its own reservation and refunds the surplus.</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The probe proves Σ Δ = 0 before every commit — the invariant that never breaks.</a:t>
            </a:r>
            <a:endParaRPr lang="en-US" sz="2000" dirty="0"/>
          </a:p>
        </p:txBody>
      </p:sp>
      <p:sp>
        <p:nvSpPr>
          <p:cNvPr id="5" name="Shape 3"/>
          <p:cNvSpPr/>
          <p:nvPr/>
        </p:nvSpPr>
        <p:spPr>
          <a:xfrm>
            <a:off x="822960" y="5212080"/>
            <a:ext cx="10515600" cy="777240"/>
          </a:xfrm>
          <a:prstGeom prst="roundRect">
            <a:avLst>
              <a:gd name="adj" fmla="val 11765"/>
            </a:avLst>
          </a:prstGeom>
          <a:solidFill>
            <a:srgbClr val="182536"/>
          </a:solidFill>
          <a:ln w="12700">
            <a:solidFill>
              <a:srgbClr val="24344A"/>
            </a:solidFill>
            <a:prstDash val="solid"/>
          </a:ln>
        </p:spPr>
      </p:sp>
      <p:sp>
        <p:nvSpPr>
          <p:cNvPr id="6" name="Text 4"/>
          <p:cNvSpPr/>
          <p:nvPr/>
        </p:nvSpPr>
        <p:spPr>
          <a:xfrm>
            <a:off x="1051560" y="5212080"/>
            <a:ext cx="10058400" cy="777240"/>
          </a:xfrm>
          <a:prstGeom prst="rect">
            <a:avLst/>
          </a:prstGeom>
          <a:noFill/>
          <a:ln/>
        </p:spPr>
        <p:txBody>
          <a:bodyPr wrap="square" lIns="0" tIns="0" rIns="0" bIns="0" rtlCol="0" anchor="ctr"/>
          <a:lstStyle/>
          <a:p>
            <a:pPr indent="0" marL="0">
              <a:buNone/>
            </a:pPr>
            <a:r>
              <a:rPr lang="en-US" sz="1400" b="1" dirty="0">
                <a:solidFill>
                  <a:srgbClr val="F5B942"/>
                </a:solidFill>
                <a:latin typeface="Segoe UI" pitchFamily="34" charset="0"/>
                <a:ea typeface="Segoe UI" pitchFamily="34" charset="-122"/>
                <a:cs typeface="Segoe UI" pitchFamily="34" charset="-120"/>
              </a:rPr>
              <a:t>NEXT   </a:t>
            </a:r>
            <a:pPr indent="0" marL="0">
              <a:buNone/>
            </a:pPr>
            <a:r>
              <a:rPr lang="en-US" sz="1600" dirty="0">
                <a:solidFill>
                  <a:srgbClr val="E6ECF4"/>
                </a:solidFill>
                <a:latin typeface="Segoe UI" pitchFamily="34" charset="0"/>
                <a:ea typeface="Segoe UI" pitchFamily="34" charset="-122"/>
                <a:cs typeface="Segoe UI" pitchFamily="34" charset="-120"/>
              </a:rPr>
              <a:t>DATA_LAYER — where conserved fills become durable Postgres rows</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6279A6"/>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6279A6"/>
                </a:solidFill>
                <a:latin typeface="Segoe UI" pitchFamily="34" charset="0"/>
                <a:ea typeface="Segoe UI" pitchFamily="34" charset="-122"/>
                <a:cs typeface="Segoe UI" pitchFamily="34" charset="-120"/>
              </a:rPr>
              <a:t>PRODUCT EXPLAINER · 4 OF 7 · PERSISTENCE</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Where the bytes land</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One interface, IDataBaseService, turns Order / Fund / Position into rows in Postgres. Two DB stacks share the job: EF Core authors the schema, Dapper runs every hot-path read and write.</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DATA_LAYER.md   ·   the persistence layer + the schema</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04</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YOU ARE HERE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4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Every stage above eventually lands here, in the DB</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44557A"/>
          </a:solidFill>
          <a:ln w="12700">
            <a:solidFill>
              <a:srgbClr val="44557A"/>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44557A"/>
          </a:solidFill>
          <a:ln w="12700">
            <a:solidFill>
              <a:srgbClr val="44557A"/>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44557A"/>
          </a:solidFill>
          <a:ln w="12700">
            <a:solidFill>
              <a:srgbClr val="44557A"/>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44557A"/>
          </a:solidFill>
          <a:ln w="12700">
            <a:solidFill>
              <a:srgbClr val="44557A"/>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44557A"/>
          </a:solidFill>
          <a:ln w="12700">
            <a:solidFill>
              <a:srgbClr val="44557A"/>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44557A"/>
          </a:solidFill>
          <a:ln w="12700">
            <a:solidFill>
              <a:srgbClr val="44557A"/>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F5B942"/>
          </a:solidFill>
          <a:ln w="12700">
            <a:solidFill>
              <a:srgbClr val="F5B942"/>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After this deck you'll understand</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why two DB stacks (EF + Dapper) live in one repo</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how PgDBService hand-writes SQL for the hot path</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reservation columns the schema enforces by CHECK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why the *Row SQLite attributes are dead metadata</a:t>
            </a:r>
            <a:endParaRPr lang="en-US" sz="1400" dirty="0"/>
          </a:p>
        </p:txBody>
      </p:sp>
      <p:sp>
        <p:nvSpPr>
          <p:cNvPr id="32" name="Shape 30"/>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04</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SPLIT</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4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EF owns the schema; Dapper owns the runtime</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TWO STACKS, TWO JOBS</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EF Core  (KseDbContext)</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job:  author + apply MIGRATIONS</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runs: dotnet ef · Migrate() at boot</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  in DI? NO — design-time only</a:t>
            </a:r>
            <a:endParaRPr lang="en-US" sz="1250" dirty="0"/>
          </a:p>
          <a:p>
            <a:pPr indent="0" marL="0">
              <a:lnSpc>
                <a:spcPct val="114000"/>
              </a:lnSpc>
              <a:buNone/>
            </a:pP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Dapper  (PgDBService)</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job:  every runtime read + write</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runs: on every order, tick, page</a:t>
            </a:r>
            <a:endParaRPr lang="en-US" sz="1250" dirty="0"/>
          </a:p>
          <a:p>
            <a:pPr indent="0" marL="0">
              <a:lnSpc>
                <a:spcPct val="114000"/>
              </a:lnSpc>
              <a:buNone/>
            </a:pPr>
            <a:r>
              <a:rPr lang="en-US" sz="1250" dirty="0">
                <a:solidFill>
                  <a:srgbClr val="7FE3AD"/>
                </a:solidFill>
                <a:latin typeface="Consolas" pitchFamily="34" charset="0"/>
                <a:ea typeface="Consolas" pitchFamily="34" charset="-122"/>
                <a:cs typeface="Consolas" pitchFamily="34" charset="-120"/>
              </a:rPr>
              <a:t>  in DI? YES — IDataBaseService</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One schema, two consumers</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EF's fluent model is a reviewable, diffable schema.</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But its change-tracker is overhead the 20k-bot path can't pay.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So the runtime bypasses EF and hand-writes parameterized SQL.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KseDbContext is the only structural source of truth.</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Db:AutoMigrate (default true) applies pending migrations at startup, before the seed block</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A3943"/>
          </a:solidFill>
          <a:ln/>
        </p:spPr>
      </p:sp>
      <p:sp>
        <p:nvSpPr>
          <p:cNvPr id="3" name="Shape 1"/>
          <p:cNvSpPr/>
          <p:nvPr/>
        </p:nvSpPr>
        <p:spPr>
          <a:xfrm>
            <a:off x="457200" y="365760"/>
            <a:ext cx="512064" cy="512064"/>
          </a:xfrm>
          <a:prstGeom prst="roundRect">
            <a:avLst>
              <a:gd name="adj" fmla="val 12500"/>
            </a:avLst>
          </a:prstGeom>
          <a:solidFill>
            <a:srgbClr val="EA3943"/>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04</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TRAP</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4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SQLite attributes on Row classes are dead</a:t>
            </a:r>
            <a:endParaRPr lang="en-US" sz="2500" dirty="0"/>
          </a:p>
        </p:txBody>
      </p:sp>
      <p:sp>
        <p:nvSpPr>
          <p:cNvPr id="8" name="Shape 6"/>
          <p:cNvSpPr/>
          <p:nvPr/>
        </p:nvSpPr>
        <p:spPr>
          <a:xfrm>
            <a:off x="475488" y="1664208"/>
            <a:ext cx="914400" cy="0"/>
          </a:xfrm>
          <a:prstGeom prst="line">
            <a:avLst/>
          </a:prstGeom>
          <a:noFill/>
          <a:ln w="38100">
            <a:solidFill>
              <a:srgbClr val="EA3943"/>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PositionRow.cs — DO NOT TRUST</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8A95A5"/>
                </a:solidFill>
                <a:latin typeface="Consolas" pitchFamily="34" charset="0"/>
                <a:ea typeface="Consolas" pitchFamily="34" charset="-122"/>
                <a:cs typeface="Consolas" pitchFamily="34" charset="-120"/>
              </a:rPr>
              <a:t>using SQLite;                 // legacy</a:t>
            </a:r>
            <a:endParaRPr lang="en-US" sz="1250" dirty="0"/>
          </a:p>
          <a:p>
            <a:pPr indent="0" marL="0">
              <a:lnSpc>
                <a:spcPct val="114000"/>
              </a:lnSpc>
              <a:buNone/>
            </a:pP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[Table("Positions")]           // ignored</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public sealed class PositionRow {</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  [PrimaryKey, AutoIncrement]  // ignored</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public int PositionId;</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  [Indexed] public int StockId;// ignored</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EA3943"/>
                </a:solidFill>
                <a:latin typeface="Segoe UI" pitchFamily="34" charset="0"/>
                <a:ea typeface="Segoe UI" pitchFamily="34" charset="-122"/>
                <a:cs typeface="Segoe UI" pitchFamily="34" charset="-120"/>
              </a:rPr>
              <a:t>Neither stack reads them</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Left over from a pre-Postgres SQLite era.</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EF maps via OnModelCreating; Dapper maps by property↔column name.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They compile only because sqlite-net-pcl is still referenced.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Trust KseDbContext for real types, indexes, and CHECKs.</a:t>
            </a:r>
            <a:endParaRPr lang="en-US" sz="1400" dirty="0"/>
          </a:p>
        </p:txBody>
      </p:sp>
      <p:sp>
        <p:nvSpPr>
          <p:cNvPr id="14" name="Shape 12"/>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5" name="Text 13"/>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6" name="Shape 14"/>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7" name="Text 15"/>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8" name="Shape 16"/>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19" name="Text 17"/>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0" name="Shape 18"/>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1" name="Text 19"/>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2" name="Shape 20"/>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4" name="Shape 22"/>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6" name="Shape 24"/>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04</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RUNTIME LAYER</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4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PgDBService is one partial class, split by table</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676656"/>
          </a:xfrm>
          <a:prstGeom prst="roundRect">
            <a:avLst>
              <a:gd name="adj" fmla="val 8108"/>
            </a:avLst>
          </a:prstGeom>
          <a:solidFill>
            <a:srgbClr val="0E9F6E"/>
          </a:solidFill>
          <a:ln w="12700">
            <a:solidFill>
              <a:srgbClr val="0E9F6E"/>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IDataBaseService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 one runtime interface (Shared)</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PgDBService — 7 partials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.Orders .Portfolio .Stocks .Users .Misc …</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*Row DTO ↔ *Mapper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ToDomain / ToRow hand-written projections</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DbScope over Postgres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Dapper QueryAsync / ExecuteAsync</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Anatomy worth knowing</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Split by table region so each rewrite touches one file.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Every query goes Row→domain, never Dapper straight to a Model.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Hot writes batch into one multi-row VALUES statement.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One instance also serves IBotMaintenanceQueries.</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InsertAllAsync/UpdateAllAsync collapse a bot trade group's ~20 round-trips to ~5</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A3943"/>
          </a:solidFill>
          <a:ln/>
        </p:spPr>
      </p:sp>
      <p:sp>
        <p:nvSpPr>
          <p:cNvPr id="3" name="Shape 1"/>
          <p:cNvSpPr/>
          <p:nvPr/>
        </p:nvSpPr>
        <p:spPr>
          <a:xfrm>
            <a:off x="457200" y="365760"/>
            <a:ext cx="512064" cy="512064"/>
          </a:xfrm>
          <a:prstGeom prst="roundRect">
            <a:avLst>
              <a:gd name="adj" fmla="val 12500"/>
            </a:avLst>
          </a:prstGeom>
          <a:solidFill>
            <a:srgbClr val="EA3943"/>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04</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SCHEMA</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4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schema fences reserved value with CHECK constraints</a:t>
            </a:r>
            <a:endParaRPr lang="en-US" sz="2500" dirty="0"/>
          </a:p>
        </p:txBody>
      </p:sp>
      <p:sp>
        <p:nvSpPr>
          <p:cNvPr id="8" name="Shape 6"/>
          <p:cNvSpPr/>
          <p:nvPr/>
        </p:nvSpPr>
        <p:spPr>
          <a:xfrm>
            <a:off x="475488" y="1664208"/>
            <a:ext cx="914400" cy="0"/>
          </a:xfrm>
          <a:prstGeom prst="line">
            <a:avLst/>
          </a:prstGeom>
          <a:noFill/>
          <a:ln w="38100">
            <a:solidFill>
              <a:srgbClr val="EA3943"/>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Funds &amp; Positions — reservation columns</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150" dirty="0">
                <a:solidFill>
                  <a:srgbClr val="9FE7C6"/>
                </a:solidFill>
                <a:latin typeface="Consolas" pitchFamily="34" charset="0"/>
                <a:ea typeface="Consolas" pitchFamily="34" charset="-122"/>
                <a:cs typeface="Consolas" pitchFamily="34" charset="-120"/>
              </a:rPr>
              <a:t>Funds  (UNIQUE UserId+Currency)</a:t>
            </a:r>
            <a:endParaRPr lang="en-US" sz="1150" dirty="0"/>
          </a:p>
          <a:p>
            <a:pPr indent="0" marL="0">
              <a:lnSpc>
                <a:spcPct val="114000"/>
              </a:lnSpc>
              <a:buNone/>
            </a:pPr>
            <a:r>
              <a:rPr lang="en-US" sz="1150" dirty="0">
                <a:solidFill>
                  <a:srgbClr val="D8E0EC"/>
                </a:solidFill>
                <a:latin typeface="Consolas" pitchFamily="34" charset="0"/>
                <a:ea typeface="Consolas" pitchFamily="34" charset="-122"/>
                <a:cs typeface="Consolas" pitchFamily="34" charset="-120"/>
              </a:rPr>
              <a:t>  TotalBalance     numeric(20,10)</a:t>
            </a:r>
            <a:endParaRPr lang="en-US" sz="1150" dirty="0"/>
          </a:p>
          <a:p>
            <a:pPr indent="0" marL="0">
              <a:lnSpc>
                <a:spcPct val="114000"/>
              </a:lnSpc>
              <a:buNone/>
            </a:pPr>
            <a:r>
              <a:rPr lang="en-US" sz="1150" dirty="0">
                <a:solidFill>
                  <a:srgbClr val="D8E0EC"/>
                </a:solidFill>
                <a:latin typeface="Consolas" pitchFamily="34" charset="0"/>
                <a:ea typeface="Consolas" pitchFamily="34" charset="-122"/>
                <a:cs typeface="Consolas" pitchFamily="34" charset="-120"/>
              </a:rPr>
              <a:t>  ReservedBalance  numeric(20,10)</a:t>
            </a:r>
            <a:endParaRPr lang="en-US" sz="1150" dirty="0"/>
          </a:p>
          <a:p>
            <a:pPr indent="0" marL="0">
              <a:lnSpc>
                <a:spcPct val="114000"/>
              </a:lnSpc>
              <a:buNone/>
            </a:pPr>
            <a:r>
              <a:rPr lang="en-US" sz="1150" dirty="0">
                <a:solidFill>
                  <a:srgbClr val="F5A3A9"/>
                </a:solidFill>
                <a:latin typeface="Consolas" pitchFamily="34" charset="0"/>
                <a:ea typeface="Consolas" pitchFamily="34" charset="-122"/>
                <a:cs typeface="Consolas" pitchFamily="34" charset="-120"/>
              </a:rPr>
              <a:t>  CK: 0 &lt;= Reserved &lt;= Total</a:t>
            </a:r>
            <a:endParaRPr lang="en-US" sz="1150" dirty="0"/>
          </a:p>
          <a:p>
            <a:pPr indent="0" marL="0">
              <a:lnSpc>
                <a:spcPct val="114000"/>
              </a:lnSpc>
              <a:buNone/>
            </a:pPr>
            <a:endParaRPr lang="en-US" sz="1150" dirty="0"/>
          </a:p>
          <a:p>
            <a:pPr indent="0" marL="0">
              <a:lnSpc>
                <a:spcPct val="114000"/>
              </a:lnSpc>
              <a:buNone/>
            </a:pPr>
            <a:r>
              <a:rPr lang="en-US" sz="1150" dirty="0">
                <a:solidFill>
                  <a:srgbClr val="9FE7C6"/>
                </a:solidFill>
                <a:latin typeface="Consolas" pitchFamily="34" charset="0"/>
                <a:ea typeface="Consolas" pitchFamily="34" charset="-122"/>
                <a:cs typeface="Consolas" pitchFamily="34" charset="-120"/>
              </a:rPr>
              <a:t>Positions  (UNIQUE UserId+StockId)</a:t>
            </a:r>
            <a:endParaRPr lang="en-US" sz="1150" dirty="0"/>
          </a:p>
          <a:p>
            <a:pPr indent="0" marL="0">
              <a:lnSpc>
                <a:spcPct val="114000"/>
              </a:lnSpc>
              <a:buNone/>
            </a:pPr>
            <a:r>
              <a:rPr lang="en-US" sz="1150" dirty="0">
                <a:solidFill>
                  <a:srgbClr val="D8E0EC"/>
                </a:solidFill>
                <a:latin typeface="Consolas" pitchFamily="34" charset="0"/>
                <a:ea typeface="Consolas" pitchFamily="34" charset="-122"/>
                <a:cs typeface="Consolas" pitchFamily="34" charset="-120"/>
              </a:rPr>
              <a:t>  Quantity          int   -- &lt;0 = short</a:t>
            </a:r>
            <a:endParaRPr lang="en-US" sz="1150" dirty="0"/>
          </a:p>
          <a:p>
            <a:pPr indent="0" marL="0">
              <a:lnSpc>
                <a:spcPct val="114000"/>
              </a:lnSpc>
              <a:buNone/>
            </a:pPr>
            <a:r>
              <a:rPr lang="en-US" sz="1150" dirty="0">
                <a:solidFill>
                  <a:srgbClr val="D8E0EC"/>
                </a:solidFill>
                <a:latin typeface="Consolas" pitchFamily="34" charset="0"/>
                <a:ea typeface="Consolas" pitchFamily="34" charset="-122"/>
                <a:cs typeface="Consolas" pitchFamily="34" charset="-120"/>
              </a:rPr>
              <a:t>  ReservedQuantity  int   -- long-only</a:t>
            </a:r>
            <a:endParaRPr lang="en-US" sz="1150" dirty="0"/>
          </a:p>
          <a:p>
            <a:pPr indent="0" marL="0">
              <a:lnSpc>
                <a:spcPct val="114000"/>
              </a:lnSpc>
              <a:buNone/>
            </a:pPr>
            <a:r>
              <a:rPr lang="en-US" sz="1150" dirty="0">
                <a:solidFill>
                  <a:srgbClr val="F5A3A9"/>
                </a:solidFill>
                <a:latin typeface="Consolas" pitchFamily="34" charset="0"/>
                <a:ea typeface="Consolas" pitchFamily="34" charset="-122"/>
                <a:cs typeface="Consolas" pitchFamily="34" charset="-120"/>
              </a:rPr>
              <a:t>  CK: Reserved in [0, GREATEST(Qty,0)]</a:t>
            </a:r>
            <a:endParaRPr lang="en-US" sz="11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EA3943"/>
                </a:solidFill>
                <a:latin typeface="Segoe UI" pitchFamily="34" charset="0"/>
                <a:ea typeface="Segoe UI" pitchFamily="34" charset="-122"/>
                <a:cs typeface="Segoe UI" pitchFamily="34" charset="-120"/>
              </a:rPr>
              <a:t>Available = Total − Reserved</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ReservedBalance fences cash against resting buys / shorts.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ReservedQuantity fences shares against resting sells.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bad write is rejected by Postgres itself, not just the engine.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Money is numeric(20,10); timestamps are tz-aware.</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CK_Funds_Balance_Invariants · CK_Positions_Quantity_Invariants — DB-enforced, always</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04</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SEAM</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4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DB guards each row; the engine guards the sum</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1240536"/>
          </a:xfrm>
          <a:prstGeom prst="roundRect">
            <a:avLst>
              <a:gd name="adj" fmla="val 4423"/>
            </a:avLst>
          </a:prstGeom>
          <a:solidFill>
            <a:srgbClr val="FFFFFF"/>
          </a:solidFill>
          <a:ln w="12700">
            <a:solidFill>
              <a:srgbClr val="E2E7EF"/>
            </a:solidFill>
            <a:prstDash val="solid"/>
          </a:ln>
        </p:spPr>
      </p:sp>
      <p:sp>
        <p:nvSpPr>
          <p:cNvPr id="10" name="Shape 8"/>
          <p:cNvSpPr/>
          <p:nvPr/>
        </p:nvSpPr>
        <p:spPr>
          <a:xfrm>
            <a:off x="457200" y="1828800"/>
            <a:ext cx="91440" cy="1240536"/>
          </a:xfrm>
          <a:prstGeom prst="rect">
            <a:avLst/>
          </a:prstGeom>
          <a:solidFill>
            <a:srgbClr val="16C784"/>
          </a:solidFill>
          <a:ln/>
        </p:spPr>
      </p:sp>
      <p:sp>
        <p:nvSpPr>
          <p:cNvPr id="11" name="Text 9"/>
          <p:cNvSpPr/>
          <p:nvPr/>
        </p:nvSpPr>
        <p:spPr>
          <a:xfrm>
            <a:off x="713232" y="1828800"/>
            <a:ext cx="2286000" cy="1240536"/>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CHECK</a:t>
            </a:r>
            <a:endParaRPr lang="en-US" sz="2500" dirty="0"/>
          </a:p>
        </p:txBody>
      </p:sp>
      <p:sp>
        <p:nvSpPr>
          <p:cNvPr id="12" name="Text 10"/>
          <p:cNvSpPr/>
          <p:nvPr/>
        </p:nvSpPr>
        <p:spPr>
          <a:xfrm>
            <a:off x="2971800" y="1828800"/>
            <a:ext cx="2377440" cy="1240536"/>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per-row solvency</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Postgres rejects a bad Fund / Position</a:t>
            </a:r>
            <a:endParaRPr lang="en-US" sz="1300" dirty="0"/>
          </a:p>
        </p:txBody>
      </p:sp>
      <p:sp>
        <p:nvSpPr>
          <p:cNvPr id="13" name="Shape 11"/>
          <p:cNvSpPr/>
          <p:nvPr/>
        </p:nvSpPr>
        <p:spPr>
          <a:xfrm>
            <a:off x="457200" y="3288792"/>
            <a:ext cx="5074920" cy="1240536"/>
          </a:xfrm>
          <a:prstGeom prst="roundRect">
            <a:avLst>
              <a:gd name="adj" fmla="val 4423"/>
            </a:avLst>
          </a:prstGeom>
          <a:solidFill>
            <a:srgbClr val="FFFFFF"/>
          </a:solidFill>
          <a:ln w="12700">
            <a:solidFill>
              <a:srgbClr val="E2E7EF"/>
            </a:solidFill>
            <a:prstDash val="solid"/>
          </a:ln>
        </p:spPr>
      </p:sp>
      <p:sp>
        <p:nvSpPr>
          <p:cNvPr id="14" name="Shape 12"/>
          <p:cNvSpPr/>
          <p:nvPr/>
        </p:nvSpPr>
        <p:spPr>
          <a:xfrm>
            <a:off x="457200" y="3288792"/>
            <a:ext cx="91440" cy="1240536"/>
          </a:xfrm>
          <a:prstGeom prst="rect">
            <a:avLst/>
          </a:prstGeom>
          <a:solidFill>
            <a:srgbClr val="16C784"/>
          </a:solidFill>
          <a:ln/>
        </p:spPr>
      </p:sp>
      <p:sp>
        <p:nvSpPr>
          <p:cNvPr id="15" name="Text 13"/>
          <p:cNvSpPr/>
          <p:nvPr/>
        </p:nvSpPr>
        <p:spPr>
          <a:xfrm>
            <a:off x="713232" y="3288792"/>
            <a:ext cx="2286000" cy="1240536"/>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AsyncLocal</a:t>
            </a:r>
            <a:endParaRPr lang="en-US" sz="2500" dirty="0"/>
          </a:p>
        </p:txBody>
      </p:sp>
      <p:sp>
        <p:nvSpPr>
          <p:cNvPr id="16" name="Text 14"/>
          <p:cNvSpPr/>
          <p:nvPr/>
        </p:nvSpPr>
        <p:spPr>
          <a:xfrm>
            <a:off x="2971800" y="3288792"/>
            <a:ext cx="2377440" cy="1240536"/>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ambient transaction</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reserve→match→settle in one commit</a:t>
            </a:r>
            <a:endParaRPr lang="en-US" sz="1300" dirty="0"/>
          </a:p>
        </p:txBody>
      </p:sp>
      <p:sp>
        <p:nvSpPr>
          <p:cNvPr id="17" name="Shape 15"/>
          <p:cNvSpPr/>
          <p:nvPr/>
        </p:nvSpPr>
        <p:spPr>
          <a:xfrm>
            <a:off x="457200" y="4748784"/>
            <a:ext cx="5074920" cy="1240536"/>
          </a:xfrm>
          <a:prstGeom prst="roundRect">
            <a:avLst>
              <a:gd name="adj" fmla="val 4423"/>
            </a:avLst>
          </a:prstGeom>
          <a:solidFill>
            <a:srgbClr val="FFFFFF"/>
          </a:solidFill>
          <a:ln w="12700">
            <a:solidFill>
              <a:srgbClr val="E2E7EF"/>
            </a:solidFill>
            <a:prstDash val="solid"/>
          </a:ln>
        </p:spPr>
      </p:sp>
      <p:sp>
        <p:nvSpPr>
          <p:cNvPr id="18" name="Shape 16"/>
          <p:cNvSpPr/>
          <p:nvPr/>
        </p:nvSpPr>
        <p:spPr>
          <a:xfrm>
            <a:off x="457200" y="4748784"/>
            <a:ext cx="91440" cy="1240536"/>
          </a:xfrm>
          <a:prstGeom prst="rect">
            <a:avLst/>
          </a:prstGeom>
          <a:solidFill>
            <a:srgbClr val="16C784"/>
          </a:solidFill>
          <a:ln/>
        </p:spPr>
      </p:sp>
      <p:sp>
        <p:nvSpPr>
          <p:cNvPr id="19" name="Text 17"/>
          <p:cNvSpPr/>
          <p:nvPr/>
        </p:nvSpPr>
        <p:spPr>
          <a:xfrm>
            <a:off x="713232" y="4748784"/>
            <a:ext cx="2286000" cy="1240536"/>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CK = 0</a:t>
            </a:r>
            <a:endParaRPr lang="en-US" sz="2500" dirty="0"/>
          </a:p>
        </p:txBody>
      </p:sp>
      <p:sp>
        <p:nvSpPr>
          <p:cNvPr id="20" name="Text 18"/>
          <p:cNvSpPr/>
          <p:nvPr/>
        </p:nvSpPr>
        <p:spPr>
          <a:xfrm>
            <a:off x="2971800" y="4748784"/>
            <a:ext cx="2377440" cy="1240536"/>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cross-row conservation</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engine ConservationProbe, pre-write</a:t>
            </a:r>
            <a:endParaRPr lang="en-US" sz="1300" dirty="0"/>
          </a:p>
        </p:txBody>
      </p:sp>
      <p:sp>
        <p:nvSpPr>
          <p:cNvPr id="21" name="Text 19"/>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Two layers of guarantee</a:t>
            </a:r>
            <a:endParaRPr lang="en-US" sz="1400" dirty="0"/>
          </a:p>
        </p:txBody>
      </p:sp>
      <p:sp>
        <p:nvSpPr>
          <p:cNvPr id="22" name="Text 20"/>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CHECK constraints see one row — solvency per account.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Conservation is a cross-row sum the DB can't express.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So the engine proves Σ Δ = 0 before every commit.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Only the root COMMIT is a real Postgres fsync.</a:t>
            </a:r>
            <a:endParaRPr lang="en-US" sz="1400" dirty="0"/>
          </a:p>
        </p:txBody>
      </p:sp>
      <p:sp>
        <p:nvSpPr>
          <p:cNvPr id="23" name="Text 21"/>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Full transaction mechanism: ENGINE_MECHANICS §6 · conservation: §5</a:t>
            </a:r>
            <a:endParaRPr lang="en-US" sz="1000" dirty="0"/>
          </a:p>
        </p:txBody>
      </p:sp>
      <p:sp>
        <p:nvSpPr>
          <p:cNvPr id="24" name="Shape 22"/>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6" name="Shape 24"/>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8" name="Shape 26"/>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0" name="Shape 28"/>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2" name="Shape 30"/>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4" name="Shape 32"/>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6" name="Shape 34"/>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097280"/>
            <a:ext cx="1005840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TAKEAWAYS</a:t>
            </a:r>
            <a:endParaRPr lang="en-US" sz="1300" dirty="0"/>
          </a:p>
        </p:txBody>
      </p:sp>
      <p:sp>
        <p:nvSpPr>
          <p:cNvPr id="4" name="Text 2"/>
          <p:cNvSpPr/>
          <p:nvPr/>
        </p:nvSpPr>
        <p:spPr>
          <a:xfrm>
            <a:off x="868680" y="1691640"/>
            <a:ext cx="10424160" cy="3017520"/>
          </a:xfrm>
          <a:prstGeom prst="rect">
            <a:avLst/>
          </a:prstGeom>
          <a:noFill/>
          <a:ln/>
        </p:spPr>
        <p:txBody>
          <a:bodyPr wrap="square" rtlCol="0" anchor="t"/>
          <a:lstStyle/>
          <a:p>
            <a:pPr marL="228600" indent="-228600">
              <a:lnSpc>
                <a:spcPct val="105000"/>
              </a:lnSpc>
              <a:buSzPct val="100000"/>
              <a:buChar char="•"/>
            </a:pPr>
            <a:r>
              <a:rPr lang="en-US" sz="2000" b="1" dirty="0">
                <a:solidFill>
                  <a:srgbClr val="E6ECF4"/>
                </a:solidFill>
                <a:latin typeface="Segoe UI" pitchFamily="34" charset="0"/>
                <a:ea typeface="Segoe UI" pitchFamily="34" charset="-122"/>
                <a:cs typeface="Segoe UI" pitchFamily="34" charset="-120"/>
              </a:rPr>
              <a:t>Two stacks: EF authors the schema, Dapper runs every hot query.</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Reserved columns + CHECK constraints make the DB reject insolvency.</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The DB guards each row; the engine proves Σ Δ = 0 over the sum.</a:t>
            </a:r>
            <a:endParaRPr lang="en-US" sz="2000" dirty="0"/>
          </a:p>
        </p:txBody>
      </p:sp>
      <p:sp>
        <p:nvSpPr>
          <p:cNvPr id="5" name="Shape 3"/>
          <p:cNvSpPr/>
          <p:nvPr/>
        </p:nvSpPr>
        <p:spPr>
          <a:xfrm>
            <a:off x="822960" y="5212080"/>
            <a:ext cx="10515600" cy="777240"/>
          </a:xfrm>
          <a:prstGeom prst="roundRect">
            <a:avLst>
              <a:gd name="adj" fmla="val 11765"/>
            </a:avLst>
          </a:prstGeom>
          <a:solidFill>
            <a:srgbClr val="182536"/>
          </a:solidFill>
          <a:ln w="12700">
            <a:solidFill>
              <a:srgbClr val="24344A"/>
            </a:solidFill>
            <a:prstDash val="solid"/>
          </a:ln>
        </p:spPr>
      </p:sp>
      <p:sp>
        <p:nvSpPr>
          <p:cNvPr id="6" name="Text 4"/>
          <p:cNvSpPr/>
          <p:nvPr/>
        </p:nvSpPr>
        <p:spPr>
          <a:xfrm>
            <a:off x="1051560" y="5212080"/>
            <a:ext cx="10058400" cy="777240"/>
          </a:xfrm>
          <a:prstGeom prst="rect">
            <a:avLst/>
          </a:prstGeom>
          <a:noFill/>
          <a:ln/>
        </p:spPr>
        <p:txBody>
          <a:bodyPr wrap="square" lIns="0" tIns="0" rIns="0" bIns="0" rtlCol="0" anchor="ctr"/>
          <a:lstStyle/>
          <a:p>
            <a:pPr indent="0" marL="0">
              <a:buNone/>
            </a:pPr>
            <a:r>
              <a:rPr lang="en-US" sz="1400" b="1" dirty="0">
                <a:solidFill>
                  <a:srgbClr val="F5B942"/>
                </a:solidFill>
                <a:latin typeface="Segoe UI" pitchFamily="34" charset="0"/>
                <a:ea typeface="Segoe UI" pitchFamily="34" charset="-122"/>
                <a:cs typeface="Segoe UI" pitchFamily="34" charset="-120"/>
              </a:rPr>
              <a:t>NEXT   </a:t>
            </a:r>
            <a:pPr indent="0" marL="0">
              <a:buNone/>
            </a:pPr>
            <a:r>
              <a:rPr lang="en-US" sz="1600" dirty="0">
                <a:solidFill>
                  <a:srgbClr val="E6ECF4"/>
                </a:solidFill>
                <a:latin typeface="Segoe UI" pitchFamily="34" charset="0"/>
                <a:ea typeface="Segoe UI" pitchFamily="34" charset="-122"/>
                <a:cs typeface="Segoe UI" pitchFamily="34" charset="-120"/>
              </a:rPr>
              <a:t>SERVER_HOST_AND_OPS — the process that runs all of this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0E9F6E"/>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0E9F6E"/>
                </a:solidFill>
                <a:latin typeface="Segoe UI" pitchFamily="34" charset="0"/>
                <a:ea typeface="Segoe UI" pitchFamily="34" charset="-122"/>
                <a:cs typeface="Segoe UI" pitchFamily="34" charset="-120"/>
              </a:rPr>
              <a:t>PRODUCT EXPLAINER · 5 OF 7 · THE NETWORK BOUNDARY</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The API Surface</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Every wire a client or ops tool can touch: 28 REST controllers and one SignalR hub. The client is a thin proxy — it never runs the engine, so this surface IS the API.</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API_REFERENCE.md   ·   the server's HTTP + realtime edge</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05</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YOU ARE HERE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5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This deck is the client-facing edge of the server</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F5B942"/>
          </a:solidFill>
          <a:ln w="12700">
            <a:solidFill>
              <a:srgbClr val="F5B942"/>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F5B942"/>
          </a:solidFill>
          <a:ln w="12700">
            <a:solidFill>
              <a:srgbClr val="F5B942"/>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44557A"/>
          </a:solidFill>
          <a:ln w="12700">
            <a:solidFill>
              <a:srgbClr val="44557A"/>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44557A"/>
          </a:solidFill>
          <a:ln w="12700">
            <a:solidFill>
              <a:srgbClr val="44557A"/>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44557A"/>
          </a:solidFill>
          <a:ln w="12700">
            <a:solidFill>
              <a:srgbClr val="44557A"/>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44557A"/>
          </a:solidFill>
          <a:ln w="12700">
            <a:solidFill>
              <a:srgbClr val="44557A"/>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44557A"/>
          </a:solidFill>
          <a:ln w="12700">
            <a:solidFill>
              <a:srgbClr val="44557A"/>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After this deck you'll understand</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how 28 controllers group into five purposes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one JWT fallback plus admin + ownership gates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why REST bootstraps a screen and SignalR keeps it live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what a MarketHub push actually carries on the wire</a:t>
            </a:r>
            <a:endParaRPr lang="en-US" sz="1400" dirty="0"/>
          </a:p>
        </p:txBody>
      </p:sp>
      <p:sp>
        <p:nvSpPr>
          <p:cNvPr id="32" name="Shape 30"/>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05</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SURFACE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5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HTTP edge, one realtime hub, one auth default</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16C784"/>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28</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REST controllers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explicit [Route("api/...")] each</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16C784"/>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1</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SignalR hub</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MarketHub at /hubs/market</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16C784"/>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JWT</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default on everything</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auth unless [AllowAnonymous]</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16C784"/>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60</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orders / min / user</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auth 10/min/IP · reads free</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The whole edge</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client is a proxy — this surface is the only API.</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REST for request/response; one hub for live push.</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 global fallback policy locks down every endpoint.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Only auth + a couple of health probes are anonymous.</a:t>
            </a:r>
            <a:endParaRPr lang="en-US" sz="1400" dirty="0"/>
          </a:p>
        </p:txBody>
      </p:sp>
      <p:sp>
        <p:nvSpPr>
          <p:cNvPr id="27" name="Shape 25"/>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9" name="Shape 27"/>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1" name="Shape 29"/>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3" name="Shape 31"/>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5" name="Shape 33"/>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7" name="Shape 35"/>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8" name="Text 36"/>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9" name="Shape 37"/>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0" name="Text 38"/>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05</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CONTROLLERS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5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Twenty-eight controllers fall into five jobs</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627278"/>
          </a:xfrm>
          <a:prstGeom prst="roundRect">
            <a:avLst>
              <a:gd name="adj" fmla="val 8746"/>
            </a:avLst>
          </a:prstGeom>
          <a:solidFill>
            <a:srgbClr val="0E9F6E"/>
          </a:solidFill>
          <a:ln w="12700">
            <a:solidFill>
              <a:srgbClr val="0E9F6E"/>
            </a:solidFill>
            <a:prstDash val="solid"/>
          </a:ln>
        </p:spPr>
      </p:sp>
      <p:sp>
        <p:nvSpPr>
          <p:cNvPr id="10" name="Text 8"/>
          <p:cNvSpPr/>
          <p:nvPr/>
        </p:nvSpPr>
        <p:spPr>
          <a:xfrm>
            <a:off x="640080" y="1828800"/>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Doorway</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auth · session · version</a:t>
            </a:r>
            <a:endParaRPr lang="en-US" sz="1300" dirty="0"/>
          </a:p>
        </p:txBody>
      </p:sp>
      <p:sp>
        <p:nvSpPr>
          <p:cNvPr id="11" name="Shape 9"/>
          <p:cNvSpPr/>
          <p:nvPr/>
        </p:nvSpPr>
        <p:spPr>
          <a:xfrm>
            <a:off x="2994660" y="2456078"/>
            <a:ext cx="0" cy="256032"/>
          </a:xfrm>
          <a:prstGeom prst="line">
            <a:avLst/>
          </a:prstGeom>
          <a:noFill/>
          <a:ln w="25400">
            <a:solidFill>
              <a:srgbClr val="8A95A5"/>
            </a:solidFill>
            <a:prstDash val="solid"/>
            <a:tailEnd type="triangle"/>
          </a:ln>
        </p:spPr>
      </p:sp>
      <p:sp>
        <p:nvSpPr>
          <p:cNvPr id="12" name="Shape 10"/>
          <p:cNvSpPr/>
          <p:nvPr/>
        </p:nvSpPr>
        <p:spPr>
          <a:xfrm>
            <a:off x="457200" y="2712110"/>
            <a:ext cx="5074920" cy="627278"/>
          </a:xfrm>
          <a:prstGeom prst="roundRect">
            <a:avLst>
              <a:gd name="adj" fmla="val 8746"/>
            </a:avLst>
          </a:prstGeom>
          <a:solidFill>
            <a:srgbClr val="44557A"/>
          </a:solidFill>
          <a:ln w="12700">
            <a:solidFill>
              <a:srgbClr val="44557A"/>
            </a:solidFill>
            <a:prstDash val="solid"/>
          </a:ln>
        </p:spPr>
      </p:sp>
      <p:sp>
        <p:nvSpPr>
          <p:cNvPr id="13" name="Text 11"/>
          <p:cNvSpPr/>
          <p:nvPr/>
        </p:nvSpPr>
        <p:spPr>
          <a:xfrm>
            <a:off x="640080" y="2712110"/>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Trading + portfolio</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orders · brackets · deposit/convert</a:t>
            </a:r>
            <a:endParaRPr lang="en-US" sz="1300" dirty="0"/>
          </a:p>
        </p:txBody>
      </p:sp>
      <p:sp>
        <p:nvSpPr>
          <p:cNvPr id="14" name="Shape 12"/>
          <p:cNvSpPr/>
          <p:nvPr/>
        </p:nvSpPr>
        <p:spPr>
          <a:xfrm>
            <a:off x="2994660" y="3339389"/>
            <a:ext cx="0" cy="256032"/>
          </a:xfrm>
          <a:prstGeom prst="line">
            <a:avLst/>
          </a:prstGeom>
          <a:noFill/>
          <a:ln w="25400">
            <a:solidFill>
              <a:srgbClr val="8A95A5"/>
            </a:solidFill>
            <a:prstDash val="solid"/>
            <a:tailEnd type="triangle"/>
          </a:ln>
        </p:spPr>
      </p:sp>
      <p:sp>
        <p:nvSpPr>
          <p:cNvPr id="15" name="Shape 13"/>
          <p:cNvSpPr/>
          <p:nvPr/>
        </p:nvSpPr>
        <p:spPr>
          <a:xfrm>
            <a:off x="457200" y="3595421"/>
            <a:ext cx="5074920" cy="627278"/>
          </a:xfrm>
          <a:prstGeom prst="roundRect">
            <a:avLst>
              <a:gd name="adj" fmla="val 8746"/>
            </a:avLst>
          </a:prstGeom>
          <a:solidFill>
            <a:srgbClr val="44557A"/>
          </a:solidFill>
          <a:ln w="12700">
            <a:solidFill>
              <a:srgbClr val="44557A"/>
            </a:solidFill>
            <a:prstDash val="solid"/>
          </a:ln>
        </p:spPr>
      </p:sp>
      <p:sp>
        <p:nvSpPr>
          <p:cNvPr id="16" name="Text 14"/>
          <p:cNvSpPr/>
          <p:nvPr/>
        </p:nvSpPr>
        <p:spPr>
          <a:xfrm>
            <a:off x="640080" y="3595421"/>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Per-user reads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funds · positions · trades · inbox</a:t>
            </a:r>
            <a:endParaRPr lang="en-US" sz="1300" dirty="0"/>
          </a:p>
        </p:txBody>
      </p:sp>
      <p:sp>
        <p:nvSpPr>
          <p:cNvPr id="17" name="Shape 15"/>
          <p:cNvSpPr/>
          <p:nvPr/>
        </p:nvSpPr>
        <p:spPr>
          <a:xfrm>
            <a:off x="2994660" y="4222699"/>
            <a:ext cx="0" cy="256032"/>
          </a:xfrm>
          <a:prstGeom prst="line">
            <a:avLst/>
          </a:prstGeom>
          <a:noFill/>
          <a:ln w="25400">
            <a:solidFill>
              <a:srgbClr val="8A95A5"/>
            </a:solidFill>
            <a:prstDash val="solid"/>
            <a:tailEnd type="triangle"/>
          </a:ln>
        </p:spPr>
      </p:sp>
      <p:sp>
        <p:nvSpPr>
          <p:cNvPr id="18" name="Shape 16"/>
          <p:cNvSpPr/>
          <p:nvPr/>
        </p:nvSpPr>
        <p:spPr>
          <a:xfrm>
            <a:off x="457200" y="4478731"/>
            <a:ext cx="5074920" cy="627278"/>
          </a:xfrm>
          <a:prstGeom prst="roundRect">
            <a:avLst>
              <a:gd name="adj" fmla="val 8746"/>
            </a:avLst>
          </a:prstGeom>
          <a:solidFill>
            <a:srgbClr val="44557A"/>
          </a:solidFill>
          <a:ln w="12700">
            <a:solidFill>
              <a:srgbClr val="44557A"/>
            </a:solidFill>
            <a:prstDash val="solid"/>
          </a:ln>
        </p:spPr>
      </p:sp>
      <p:sp>
        <p:nvSpPr>
          <p:cNvPr id="19" name="Text 17"/>
          <p:cNvSpPr/>
          <p:nvPr/>
        </p:nvSpPr>
        <p:spPr>
          <a:xfrm>
            <a:off x="640080" y="4478731"/>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Market + reference data</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book · candles · quotes · mood</a:t>
            </a:r>
            <a:endParaRPr lang="en-US" sz="1300" dirty="0"/>
          </a:p>
        </p:txBody>
      </p:sp>
      <p:sp>
        <p:nvSpPr>
          <p:cNvPr id="20" name="Shape 18"/>
          <p:cNvSpPr/>
          <p:nvPr/>
        </p:nvSpPr>
        <p:spPr>
          <a:xfrm>
            <a:off x="2994660" y="5106010"/>
            <a:ext cx="0" cy="256032"/>
          </a:xfrm>
          <a:prstGeom prst="line">
            <a:avLst/>
          </a:prstGeom>
          <a:noFill/>
          <a:ln w="25400">
            <a:solidFill>
              <a:srgbClr val="8A95A5"/>
            </a:solidFill>
            <a:prstDash val="solid"/>
            <a:tailEnd type="triangle"/>
          </a:ln>
        </p:spPr>
      </p:sp>
      <p:sp>
        <p:nvSpPr>
          <p:cNvPr id="21" name="Shape 19"/>
          <p:cNvSpPr/>
          <p:nvPr/>
        </p:nvSpPr>
        <p:spPr>
          <a:xfrm>
            <a:off x="457200" y="5362042"/>
            <a:ext cx="5074920" cy="627278"/>
          </a:xfrm>
          <a:prstGeom prst="roundRect">
            <a:avLst>
              <a:gd name="adj" fmla="val 8746"/>
            </a:avLst>
          </a:prstGeom>
          <a:solidFill>
            <a:srgbClr val="44557A"/>
          </a:solidFill>
          <a:ln w="12700">
            <a:solidFill>
              <a:srgbClr val="44557A"/>
            </a:solidFill>
            <a:prstDash val="solid"/>
          </a:ln>
        </p:spPr>
      </p:sp>
      <p:sp>
        <p:nvSpPr>
          <p:cNvPr id="22" name="Text 20"/>
          <p:cNvSpPr/>
          <p:nvPr/>
        </p:nvSpPr>
        <p:spPr>
          <a:xfrm>
            <a:off x="640080" y="5362042"/>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Admin + ops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seed · retention · bot fleet · shutdown</a:t>
            </a:r>
            <a:endParaRPr lang="en-US" sz="1300" dirty="0"/>
          </a:p>
        </p:txBody>
      </p:sp>
      <p:sp>
        <p:nvSpPr>
          <p:cNvPr id="23" name="Text 21"/>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Grouped by what they do</a:t>
            </a:r>
            <a:endParaRPr lang="en-US" sz="1400" dirty="0"/>
          </a:p>
        </p:txBody>
      </p:sp>
      <p:sp>
        <p:nvSpPr>
          <p:cNvPr id="24" name="Text 22"/>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Doorway is the only anonymous group — it mints tokens.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Trading writes go through the engine, never raw CRUD.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Market data reads are open to any logged-in client.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Admin controls the fleet, seed, retention, and shutdown.</a:t>
            </a:r>
            <a:endParaRPr lang="en-US" sz="1400" dirty="0"/>
          </a:p>
        </p:txBody>
      </p:sp>
      <p:sp>
        <p:nvSpPr>
          <p:cNvPr id="25" name="Text 23"/>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Full controller → route → verb → auth table: API_REFERENCE.md §2</a:t>
            </a:r>
            <a:endParaRPr lang="en-US" sz="1000" dirty="0"/>
          </a:p>
        </p:txBody>
      </p:sp>
      <p:sp>
        <p:nvSpPr>
          <p:cNvPr id="26" name="Shape 24"/>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7" name="Text 25"/>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8" name="Shape 26"/>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9" name="Text 27"/>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0" name="Shape 28"/>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2" name="Shape 30"/>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4" name="Shape 32"/>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6" name="Shape 34"/>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8" name="Shape 36"/>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05</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AUTH MODEL</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5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fallback, one role, then per-endpoint ownership</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0E9F6E"/>
          </a:solidFill>
          <a:ln w="12700">
            <a:solidFill>
              <a:srgbClr val="0E9F6E"/>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Global fallback policy</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RequireAuthenticatedUser — valid JWT or 401</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Admin role gate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[Authorize(Roles="admin")] on ops routes</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F5B942"/>
          </a:solidFill>
          <a:ln w="12700">
            <a:solidFill>
              <a:srgbClr val="F5B942"/>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Per-user ownership</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route userId == token sub, else 403</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Three layers, in order</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Default is authenticated: no anonymous access anywhere.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Admin routes add a lowercase "admin" role claim check.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"My data" routes match the route id to the JWT sub.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Trading writes also require req.UserId == the caller.</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SignalR can't send a header — the hub lifts the token off ?access_token=</a:t>
            </a:r>
            <a:endParaRPr lang="en-US" sz="1000" dirty="0"/>
          </a:p>
        </p:txBody>
      </p:sp>
      <p:sp>
        <p:nvSpPr>
          <p:cNvPr id="20" name="Shape 18"/>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05</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PATTERN</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5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REST bootstraps a screen; SignalR keeps it live</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GET a snapshot over REST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book · candle history · orders · portfolio</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Join the matching hub group</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quotes / orders / portfolio</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Receive push events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thereafter it's push, not poll</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Re-fetch on a light trigger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cache invalidated → REST for truth</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Fetch once, then listen</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A screen loads its initial state with one HTTP call.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Then it joins a hub group and stops polling.</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OrderUpdated / PortfolioChanged carry no payload.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They just say "go refresh" — REST stays the source of truth.</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Mirrors the client's REST-vs-SignalR split from the server side (API_REFERENCE.md §4)</a:t>
            </a:r>
            <a:endParaRPr lang="en-US" sz="1000" dirty="0"/>
          </a:p>
        </p:txBody>
      </p:sp>
      <p:sp>
        <p:nvSpPr>
          <p:cNvPr id="23" name="Shape 21"/>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05</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MARKETHUB</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5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Most pushes are a bare 'go refresh' trigger</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SERVER → CLIENT · group orders:{userId}</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8FA6C4"/>
                </a:solidFill>
                <a:latin typeface="Consolas" pitchFamily="34" charset="0"/>
                <a:ea typeface="Consolas" pitchFamily="34" charset="-122"/>
                <a:cs typeface="Consolas" pitchFamily="34" charset="-120"/>
              </a:rPr>
              <a:t>// engine settles a fill, then broadcasts:</a:t>
            </a: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OrderUpdated  { UserId: 4021 }</a:t>
            </a:r>
            <a:endParaRPr lang="en-US" sz="1250" dirty="0"/>
          </a:p>
          <a:p>
            <a:pPr indent="0" marL="0">
              <a:lnSpc>
                <a:spcPct val="114000"/>
              </a:lnSpc>
              <a:buNone/>
            </a:pPr>
            <a:endParaRPr lang="en-US" sz="1250" dirty="0"/>
          </a:p>
          <a:p>
            <a:pPr indent="0" marL="0">
              <a:lnSpc>
                <a:spcPct val="114000"/>
              </a:lnSpc>
              <a:buNone/>
            </a:pPr>
            <a:r>
              <a:rPr lang="en-US" sz="1250" dirty="0">
                <a:solidFill>
                  <a:srgbClr val="8FA6C4"/>
                </a:solidFill>
                <a:latin typeface="Consolas" pitchFamily="34" charset="0"/>
                <a:ea typeface="Consolas" pitchFamily="34" charset="-122"/>
                <a:cs typeface="Consolas" pitchFamily="34" charset="-120"/>
              </a:rPr>
              <a:t>// client's reaction — NOT the order itself:</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GET /api/orders/by-user/4021   ← re-fetch</a:t>
            </a:r>
            <a:endParaRPr lang="en-US" sz="1250" dirty="0"/>
          </a:p>
          <a:p>
            <a:pPr indent="0" marL="0">
              <a:lnSpc>
                <a:spcPct val="114000"/>
              </a:lnSpc>
              <a:buNone/>
            </a:pPr>
            <a:endParaRPr lang="en-US" sz="1250" dirty="0"/>
          </a:p>
          <a:p>
            <a:pPr indent="0" marL="0">
              <a:lnSpc>
                <a:spcPct val="114000"/>
              </a:lnSpc>
              <a:buNone/>
            </a:pPr>
            <a:r>
              <a:rPr lang="en-US" sz="1250" dirty="0">
                <a:solidFill>
                  <a:srgbClr val="8FA6C4"/>
                </a:solidFill>
                <a:latin typeface="Consolas" pitchFamily="34" charset="0"/>
                <a:ea typeface="Consolas" pitchFamily="34" charset="-122"/>
                <a:cs typeface="Consolas" pitchFamily="34" charset="-120"/>
              </a:rPr>
              <a:t>// compare: a payload event</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OrderBookSnapshot { Bids[], Asks[],</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LastUpdatedUtc, BookVersion }</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Two shapes of push</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OrderUpdated is just an envelope — a userId, no order.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client answers it with a REST re-fetch.</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OrderBookSnapshot ships real depth plus a version.</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BookVersion is monotonic — drop any stale push.</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JoinCandles also ref-counts the aggregator — skip it and the live bar looks frozen</a:t>
            </a:r>
            <a:endParaRPr lang="en-US" sz="1000" dirty="0"/>
          </a:p>
        </p:txBody>
      </p:sp>
      <p:sp>
        <p:nvSpPr>
          <p:cNvPr id="15" name="Shape 13"/>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A3943"/>
          </a:solidFill>
          <a:ln/>
        </p:spPr>
      </p:sp>
      <p:sp>
        <p:nvSpPr>
          <p:cNvPr id="3" name="Shape 1"/>
          <p:cNvSpPr/>
          <p:nvPr/>
        </p:nvSpPr>
        <p:spPr>
          <a:xfrm>
            <a:off x="457200" y="365760"/>
            <a:ext cx="512064" cy="512064"/>
          </a:xfrm>
          <a:prstGeom prst="roundRect">
            <a:avLst>
              <a:gd name="adj" fmla="val 12500"/>
            </a:avLst>
          </a:prstGeom>
          <a:solidFill>
            <a:srgbClr val="EA3943"/>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05</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AUTH FLAGS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5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A few admin routes ride only the fallback</a:t>
            </a:r>
            <a:endParaRPr lang="en-US" sz="2500" dirty="0"/>
          </a:p>
        </p:txBody>
      </p:sp>
      <p:sp>
        <p:nvSpPr>
          <p:cNvPr id="8" name="Shape 6"/>
          <p:cNvSpPr/>
          <p:nvPr/>
        </p:nvSpPr>
        <p:spPr>
          <a:xfrm>
            <a:off x="475488" y="1664208"/>
            <a:ext cx="914400" cy="0"/>
          </a:xfrm>
          <a:prstGeom prst="line">
            <a:avLst/>
          </a:prstGeom>
          <a:noFill/>
          <a:ln w="38100">
            <a:solidFill>
              <a:srgbClr val="EA3943"/>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WEAKER THAN THEY LOOK · §5</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POST api/admin/drop-recreate</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any JWT → wipes the whole schema</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POST api/admin/bots/stop</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any JWT → halts market liquidity</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DELETE api/users/{id}</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any JWT → deletes any account</a:t>
            </a:r>
            <a:endParaRPr lang="en-US" sz="1250" dirty="0"/>
          </a:p>
          <a:p>
            <a:pPr indent="0" marL="0">
              <a:lnSpc>
                <a:spcPct val="114000"/>
              </a:lnSpc>
              <a:buNone/>
            </a:pPr>
            <a:endParaRPr lang="en-US" sz="1250" dirty="0"/>
          </a:p>
          <a:p>
            <a:pPr indent="0" marL="0">
              <a:lnSpc>
                <a:spcPct val="114000"/>
              </a:lnSpc>
              <a:buNone/>
            </a:pPr>
            <a:r>
              <a:rPr lang="en-US" sz="1250" dirty="0">
                <a:solidFill>
                  <a:srgbClr val="8FA6C4"/>
                </a:solidFill>
                <a:latin typeface="Consolas" pitchFamily="34" charset="0"/>
                <a:ea typeface="Consolas" pitchFamily="34" charset="-122"/>
                <a:cs typeface="Consolas" pitchFamily="34" charset="-120"/>
              </a:rPr>
              <a:t>// no [Authorize(Roles="admin")], no ownership</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EA3943"/>
                </a:solidFill>
                <a:latin typeface="Segoe UI" pitchFamily="34" charset="0"/>
                <a:ea typeface="Segoe UI" pitchFamily="34" charset="-122"/>
                <a:cs typeface="Segoe UI" pitchFamily="34" charset="-120"/>
              </a:rPr>
              <a:t>Known, deferred, documented</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These carry no admin gate — only the JWT fallback.</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Reference-data writes are likewise open to any token.</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In-code notes read as "role-gating lands in Phase 7".</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It's a trusted-client simulation — flagged, not exploited.</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Register is anonymous + self-service, so any user can obtain a token — confirm intent</a:t>
            </a:r>
            <a:endParaRPr lang="en-US" sz="1000" dirty="0"/>
          </a:p>
        </p:txBody>
      </p:sp>
      <p:sp>
        <p:nvSpPr>
          <p:cNvPr id="15" name="Shape 13"/>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097280"/>
            <a:ext cx="1005840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TAKEAWAYS</a:t>
            </a:r>
            <a:endParaRPr lang="en-US" sz="1300" dirty="0"/>
          </a:p>
        </p:txBody>
      </p:sp>
      <p:sp>
        <p:nvSpPr>
          <p:cNvPr id="4" name="Text 2"/>
          <p:cNvSpPr/>
          <p:nvPr/>
        </p:nvSpPr>
        <p:spPr>
          <a:xfrm>
            <a:off x="868680" y="1691640"/>
            <a:ext cx="10424160" cy="3017520"/>
          </a:xfrm>
          <a:prstGeom prst="rect">
            <a:avLst/>
          </a:prstGeom>
          <a:noFill/>
          <a:ln/>
        </p:spPr>
        <p:txBody>
          <a:bodyPr wrap="square" rtlCol="0" anchor="t"/>
          <a:lstStyle/>
          <a:p>
            <a:pPr marL="228600" indent="-228600">
              <a:lnSpc>
                <a:spcPct val="105000"/>
              </a:lnSpc>
              <a:buSzPct val="100000"/>
              <a:buChar char="•"/>
            </a:pPr>
            <a:r>
              <a:rPr lang="en-US" sz="2000" b="1" dirty="0">
                <a:solidFill>
                  <a:srgbClr val="E6ECF4"/>
                </a:solidFill>
                <a:latin typeface="Segoe UI" pitchFamily="34" charset="0"/>
                <a:ea typeface="Segoe UI" pitchFamily="34" charset="-122"/>
                <a:cs typeface="Segoe UI" pitchFamily="34" charset="-120"/>
              </a:rPr>
              <a:t>28 controllers + one hub are the entire client-facing API.</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One JWT fallback, an admin role, and per-endpoint ownership.</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REST bootstraps the screen; SignalR pushes 'go refresh'.</a:t>
            </a:r>
            <a:endParaRPr lang="en-US" sz="2000" dirty="0"/>
          </a:p>
        </p:txBody>
      </p:sp>
      <p:sp>
        <p:nvSpPr>
          <p:cNvPr id="5" name="Shape 3"/>
          <p:cNvSpPr/>
          <p:nvPr/>
        </p:nvSpPr>
        <p:spPr>
          <a:xfrm>
            <a:off x="822960" y="5212080"/>
            <a:ext cx="10515600" cy="777240"/>
          </a:xfrm>
          <a:prstGeom prst="roundRect">
            <a:avLst>
              <a:gd name="adj" fmla="val 11765"/>
            </a:avLst>
          </a:prstGeom>
          <a:solidFill>
            <a:srgbClr val="182536"/>
          </a:solidFill>
          <a:ln w="12700">
            <a:solidFill>
              <a:srgbClr val="24344A"/>
            </a:solidFill>
            <a:prstDash val="solid"/>
          </a:ln>
        </p:spPr>
      </p:sp>
      <p:sp>
        <p:nvSpPr>
          <p:cNvPr id="6" name="Text 4"/>
          <p:cNvSpPr/>
          <p:nvPr/>
        </p:nvSpPr>
        <p:spPr>
          <a:xfrm>
            <a:off x="1051560" y="5212080"/>
            <a:ext cx="10058400" cy="777240"/>
          </a:xfrm>
          <a:prstGeom prst="rect">
            <a:avLst/>
          </a:prstGeom>
          <a:noFill/>
          <a:ln/>
        </p:spPr>
        <p:txBody>
          <a:bodyPr wrap="square" lIns="0" tIns="0" rIns="0" bIns="0" rtlCol="0" anchor="ctr"/>
          <a:lstStyle/>
          <a:p>
            <a:pPr indent="0" marL="0">
              <a:buNone/>
            </a:pPr>
            <a:r>
              <a:rPr lang="en-US" sz="1400" b="1" dirty="0">
                <a:solidFill>
                  <a:srgbClr val="F5B942"/>
                </a:solidFill>
                <a:latin typeface="Segoe UI" pitchFamily="34" charset="0"/>
                <a:ea typeface="Segoe UI" pitchFamily="34" charset="-122"/>
                <a:cs typeface="Segoe UI" pitchFamily="34" charset="-120"/>
              </a:rPr>
              <a:t>NEXT   </a:t>
            </a:r>
            <a:pPr indent="0" marL="0">
              <a:buNone/>
            </a:pPr>
            <a:r>
              <a:rPr lang="en-US" sz="1600" dirty="0">
                <a:solidFill>
                  <a:srgbClr val="E6ECF4"/>
                </a:solidFill>
                <a:latin typeface="Segoe UI" pitchFamily="34" charset="0"/>
                <a:ea typeface="Segoe UI" pitchFamily="34" charset="-122"/>
                <a:cs typeface="Segoe UI" pitchFamily="34" charset="-120"/>
              </a:rPr>
              <a:t>CLIENT_STRUCTURE — the MAUI app that consumes this surface</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PRODUCT EXPLAINER · 6 OF 7 · THE PROCESS + THE BOX</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The Host and the Box</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One .NET 9 process hosts the API, the hub, the engine, and a fleet of background actors — run on the prod VM as three Docker containers, tuned by one reversible env line.</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SERVER_HOST_AND_OPS.md   ·   the layer underneath the engine + the bots</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06</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YOU ARE HERE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6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Everything server-side lives inside one hosted process</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44557A"/>
          </a:solidFill>
          <a:ln w="12700">
            <a:solidFill>
              <a:srgbClr val="44557A"/>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F5B942"/>
          </a:solidFill>
          <a:ln w="12700">
            <a:solidFill>
              <a:srgbClr val="F5B942"/>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F5B942"/>
          </a:solidFill>
          <a:ln w="12700">
            <a:solidFill>
              <a:srgbClr val="F5B942"/>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F5B942"/>
          </a:solidFill>
          <a:ln w="12700">
            <a:solidFill>
              <a:srgbClr val="F5B942"/>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F5B942"/>
          </a:solidFill>
          <a:ln w="12700">
            <a:solidFill>
              <a:srgbClr val="F5B942"/>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F5B942"/>
          </a:solidFill>
          <a:ln w="12700">
            <a:solidFill>
              <a:srgbClr val="F5B942"/>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F5B942"/>
          </a:solidFill>
          <a:ln w="12700">
            <a:solidFill>
              <a:srgbClr val="F5B942"/>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After this deck you'll understand</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the strict boot sequence that warms the caches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long-lived actors that keep the market alive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how three config tiers merge into one runtime knob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how a change reaches prod — and how to roll it back</a:t>
            </a:r>
            <a:endParaRPr lang="en-US" sz="1400" dirty="0"/>
          </a:p>
        </p:txBody>
      </p:sp>
      <p:sp>
        <p:nvSpPr>
          <p:cNvPr id="32" name="Shape 30"/>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06</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BOOT SEQUENCE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6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Boot order is load-bearing, not incidental</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27278"/>
          </a:xfrm>
          <a:prstGeom prst="roundRect">
            <a:avLst>
              <a:gd name="adj" fmla="val 8746"/>
            </a:avLst>
          </a:prstGeom>
          <a:solidFill>
            <a:srgbClr val="44557A"/>
          </a:solidFill>
          <a:ln w="12700">
            <a:solidFill>
              <a:srgbClr val="44557A"/>
            </a:solidFill>
            <a:prstDash val="solid"/>
          </a:ln>
        </p:spPr>
      </p:sp>
      <p:sp>
        <p:nvSpPr>
          <p:cNvPr id="10" name="Text 8"/>
          <p:cNvSpPr/>
          <p:nvPr/>
        </p:nvSpPr>
        <p:spPr>
          <a:xfrm>
            <a:off x="640080" y="1828800"/>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Exception nets armed</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unobserved + unhandled → Serilog</a:t>
            </a:r>
            <a:endParaRPr lang="en-US" sz="1300" dirty="0"/>
          </a:p>
        </p:txBody>
      </p:sp>
      <p:sp>
        <p:nvSpPr>
          <p:cNvPr id="11" name="Shape 9"/>
          <p:cNvSpPr/>
          <p:nvPr/>
        </p:nvSpPr>
        <p:spPr>
          <a:xfrm>
            <a:off x="2994660" y="2456078"/>
            <a:ext cx="0" cy="256032"/>
          </a:xfrm>
          <a:prstGeom prst="line">
            <a:avLst/>
          </a:prstGeom>
          <a:noFill/>
          <a:ln w="25400">
            <a:solidFill>
              <a:srgbClr val="8A95A5"/>
            </a:solidFill>
            <a:prstDash val="solid"/>
            <a:tailEnd type="triangle"/>
          </a:ln>
        </p:spPr>
      </p:sp>
      <p:sp>
        <p:nvSpPr>
          <p:cNvPr id="12" name="Shape 10"/>
          <p:cNvSpPr/>
          <p:nvPr/>
        </p:nvSpPr>
        <p:spPr>
          <a:xfrm>
            <a:off x="457200" y="2712110"/>
            <a:ext cx="5074920" cy="627278"/>
          </a:xfrm>
          <a:prstGeom prst="roundRect">
            <a:avLst>
              <a:gd name="adj" fmla="val 8746"/>
            </a:avLst>
          </a:prstGeom>
          <a:solidFill>
            <a:srgbClr val="44557A"/>
          </a:solidFill>
          <a:ln w="12700">
            <a:solidFill>
              <a:srgbClr val="44557A"/>
            </a:solidFill>
            <a:prstDash val="solid"/>
          </a:ln>
        </p:spPr>
      </p:sp>
      <p:sp>
        <p:nvSpPr>
          <p:cNvPr id="13" name="Text 11"/>
          <p:cNvSpPr/>
          <p:nvPr/>
        </p:nvSpPr>
        <p:spPr>
          <a:xfrm>
            <a:off x="640080" y="2712110"/>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Migrate if Db:AutoMigrate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EF fallback · failure logged, swallowed</a:t>
            </a:r>
            <a:endParaRPr lang="en-US" sz="1300" dirty="0"/>
          </a:p>
        </p:txBody>
      </p:sp>
      <p:sp>
        <p:nvSpPr>
          <p:cNvPr id="14" name="Shape 12"/>
          <p:cNvSpPr/>
          <p:nvPr/>
        </p:nvSpPr>
        <p:spPr>
          <a:xfrm>
            <a:off x="2994660" y="3339389"/>
            <a:ext cx="0" cy="256032"/>
          </a:xfrm>
          <a:prstGeom prst="line">
            <a:avLst/>
          </a:prstGeom>
          <a:noFill/>
          <a:ln w="25400">
            <a:solidFill>
              <a:srgbClr val="8A95A5"/>
            </a:solidFill>
            <a:prstDash val="solid"/>
            <a:tailEnd type="triangle"/>
          </a:ln>
        </p:spPr>
      </p:sp>
      <p:sp>
        <p:nvSpPr>
          <p:cNvPr id="15" name="Shape 13"/>
          <p:cNvSpPr/>
          <p:nvPr/>
        </p:nvSpPr>
        <p:spPr>
          <a:xfrm>
            <a:off x="457200" y="3595421"/>
            <a:ext cx="5074920" cy="627278"/>
          </a:xfrm>
          <a:prstGeom prst="roundRect">
            <a:avLst>
              <a:gd name="adj" fmla="val 8746"/>
            </a:avLst>
          </a:prstGeom>
          <a:solidFill>
            <a:srgbClr val="0E9F6E"/>
          </a:solidFill>
          <a:ln w="12700">
            <a:solidFill>
              <a:srgbClr val="0E9F6E"/>
            </a:solidFill>
            <a:prstDash val="solid"/>
          </a:ln>
        </p:spPr>
      </p:sp>
      <p:sp>
        <p:nvSpPr>
          <p:cNvPr id="16" name="Text 14"/>
          <p:cNvSpPr/>
          <p:nvPr/>
        </p:nvSpPr>
        <p:spPr>
          <a:xfrm>
            <a:off x="640080" y="3595421"/>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Seed empty DB</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must precede the warm-up</a:t>
            </a:r>
            <a:endParaRPr lang="en-US" sz="1300" dirty="0"/>
          </a:p>
        </p:txBody>
      </p:sp>
      <p:sp>
        <p:nvSpPr>
          <p:cNvPr id="17" name="Shape 15"/>
          <p:cNvSpPr/>
          <p:nvPr/>
        </p:nvSpPr>
        <p:spPr>
          <a:xfrm>
            <a:off x="2994660" y="4222699"/>
            <a:ext cx="0" cy="256032"/>
          </a:xfrm>
          <a:prstGeom prst="line">
            <a:avLst/>
          </a:prstGeom>
          <a:noFill/>
          <a:ln w="25400">
            <a:solidFill>
              <a:srgbClr val="8A95A5"/>
            </a:solidFill>
            <a:prstDash val="solid"/>
            <a:tailEnd type="triangle"/>
          </a:ln>
        </p:spPr>
      </p:sp>
      <p:sp>
        <p:nvSpPr>
          <p:cNvPr id="18" name="Shape 16"/>
          <p:cNvSpPr/>
          <p:nvPr/>
        </p:nvSpPr>
        <p:spPr>
          <a:xfrm>
            <a:off x="457200" y="4478731"/>
            <a:ext cx="5074920" cy="627278"/>
          </a:xfrm>
          <a:prstGeom prst="roundRect">
            <a:avLst>
              <a:gd name="adj" fmla="val 8746"/>
            </a:avLst>
          </a:prstGeom>
          <a:solidFill>
            <a:srgbClr val="44557A"/>
          </a:solidFill>
          <a:ln w="12700">
            <a:solidFill>
              <a:srgbClr val="44557A"/>
            </a:solidFill>
            <a:prstDash val="solid"/>
          </a:ln>
        </p:spPr>
      </p:sp>
      <p:sp>
        <p:nvSpPr>
          <p:cNvPr id="19" name="Text 17"/>
          <p:cNvSpPr/>
          <p:nvPr/>
        </p:nvSpPr>
        <p:spPr>
          <a:xfrm>
            <a:off x="640080" y="4478731"/>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Cold-load stocks · rehydrate brackets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or every order is rejected</a:t>
            </a:r>
            <a:endParaRPr lang="en-US" sz="1300" dirty="0"/>
          </a:p>
        </p:txBody>
      </p:sp>
      <p:sp>
        <p:nvSpPr>
          <p:cNvPr id="20" name="Shape 18"/>
          <p:cNvSpPr/>
          <p:nvPr/>
        </p:nvSpPr>
        <p:spPr>
          <a:xfrm>
            <a:off x="2994660" y="5106010"/>
            <a:ext cx="0" cy="256032"/>
          </a:xfrm>
          <a:prstGeom prst="line">
            <a:avLst/>
          </a:prstGeom>
          <a:noFill/>
          <a:ln w="25400">
            <a:solidFill>
              <a:srgbClr val="8A95A5"/>
            </a:solidFill>
            <a:prstDash val="solid"/>
            <a:tailEnd type="triangle"/>
          </a:ln>
        </p:spPr>
      </p:sp>
      <p:sp>
        <p:nvSpPr>
          <p:cNvPr id="21" name="Shape 19"/>
          <p:cNvSpPr/>
          <p:nvPr/>
        </p:nvSpPr>
        <p:spPr>
          <a:xfrm>
            <a:off x="457200" y="5362042"/>
            <a:ext cx="5074920" cy="627278"/>
          </a:xfrm>
          <a:prstGeom prst="roundRect">
            <a:avLst>
              <a:gd name="adj" fmla="val 8746"/>
            </a:avLst>
          </a:prstGeom>
          <a:solidFill>
            <a:srgbClr val="44557A"/>
          </a:solidFill>
          <a:ln w="12700">
            <a:solidFill>
              <a:srgbClr val="44557A"/>
            </a:solidFill>
            <a:prstDash val="solid"/>
          </a:ln>
        </p:spPr>
      </p:sp>
      <p:sp>
        <p:nvSpPr>
          <p:cNvPr id="22" name="Text 20"/>
          <p:cNvSpPr/>
          <p:nvPr/>
        </p:nvSpPr>
        <p:spPr>
          <a:xfrm>
            <a:off x="640080" y="5362042"/>
            <a:ext cx="4709160" cy="62727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Candle warm-up → app.Run()</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rings into RAM · loops start</a:t>
            </a:r>
            <a:endParaRPr lang="en-US" sz="1300" dirty="0"/>
          </a:p>
        </p:txBody>
      </p:sp>
      <p:sp>
        <p:nvSpPr>
          <p:cNvPr id="23" name="Text 21"/>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Phase C: warm-up before Run()</a:t>
            </a:r>
            <a:endParaRPr lang="en-US" sz="1400" dirty="0"/>
          </a:p>
        </p:txBody>
      </p:sp>
      <p:sp>
        <p:nvSpPr>
          <p:cNvPr id="24" name="Text 22"/>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Seed runs before caches snapshot the DB.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Stock catalogue load — else "Invalid stock ID" everywhere.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Brackets rehydrate so they self-manage after restart.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ShutdownTimeout 60s lets the bot loop flush cleanly.</a:t>
            </a:r>
            <a:endParaRPr lang="en-US" sz="1400" dirty="0"/>
          </a:p>
        </p:txBody>
      </p:sp>
      <p:sp>
        <p:nvSpPr>
          <p:cNvPr id="25" name="Text 23"/>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A faulting BackgroundService must not take the host down — HostOptions ignores it</a:t>
            </a:r>
            <a:endParaRPr lang="en-US" sz="1000" dirty="0"/>
          </a:p>
        </p:txBody>
      </p:sp>
      <p:sp>
        <p:nvSpPr>
          <p:cNvPr id="26" name="Shape 24"/>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8" name="Shape 26"/>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9" name="Text 27"/>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0" name="Shape 28"/>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31" name="Text 29"/>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32" name="Shape 30"/>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4" name="Shape 32"/>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5" name="Text 33"/>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6" name="Shape 34"/>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7" name="Text 35"/>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8" name="Shape 36"/>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9" name="Text 37"/>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06</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HOSTED SERVICES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6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A fleet of actors keeps the market alive</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676656"/>
          </a:xfrm>
          <a:prstGeom prst="roundRect">
            <a:avLst>
              <a:gd name="adj" fmla="val 8108"/>
            </a:avLst>
          </a:prstGeom>
          <a:solidFill>
            <a:srgbClr val="0E9F6E"/>
          </a:solidFill>
          <a:ln w="12700">
            <a:solidFill>
              <a:srgbClr val="0E9F6E"/>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BotLoopHostedService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starts AiTradeService — the ~20k bots</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StopTriggerWatcher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promotes armed stops · circuit breaker</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MarketHub + OrderBook broadcasters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engine events → SignalR groups</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Telemetry · Retention · warm-up</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dashboard · history prune · cold-start</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Long-lived, mostly config-gated</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Bots:AutoStart is the market's on/off switch.</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Stop watcher cold-loads armed stops — they survive restart.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Broadcasts are fire-and-forget; a slow client never blocks.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Retention prunes the two high-churn tables each tick.</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All in Services/HostedServices/ · grep AddHostedService in Program.cs</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06</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CONFIG LAYERING</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6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Three tiers merge; the env line wins</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appsettings.json</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the base — every default lives here</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appsettings.Production.json</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deep-merge · only leaf keys override</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F5B942"/>
          </a:solidFill>
          <a:ln w="12700">
            <a:solidFill>
              <a:srgbClr val="F5B942"/>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Section__Key env vars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highest precedence · __ maps to :</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Why the top tier matters</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Bots__Mood__Enabled sets Bots:Mood:Enabled.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Trailing __0 becomes an array index.</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Live experiment flags live only in the env tier.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Change a prod knob without rebuilding appsettings.</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GetValue("Section:Key", default) — the code default runs if absent from all three</a:t>
            </a:r>
            <a:endParaRPr lang="en-US" sz="1000" dirty="0"/>
          </a:p>
        </p:txBody>
      </p:sp>
      <p:sp>
        <p:nvSpPr>
          <p:cNvPr id="20" name="Shape 18"/>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06</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PROD OVERRIDE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6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live experiment flags are just env lines</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docker-compose.prod.yml · server.environment</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100" dirty="0">
                <a:solidFill>
                  <a:srgbClr val="D8E0EC"/>
                </a:solidFill>
                <a:latin typeface="Consolas" pitchFamily="34" charset="0"/>
                <a:ea typeface="Consolas" pitchFamily="34" charset="-122"/>
                <a:cs typeface="Consolas" pitchFamily="34" charset="-120"/>
              </a:rPr>
              <a:t>server:</a:t>
            </a:r>
            <a:endParaRPr lang="en-US" sz="1100" dirty="0"/>
          </a:p>
          <a:p>
            <a:pPr indent="0" marL="0">
              <a:lnSpc>
                <a:spcPct val="114000"/>
              </a:lnSpc>
              <a:buNone/>
            </a:pPr>
            <a:r>
              <a:rPr lang="en-US" sz="1100" dirty="0">
                <a:solidFill>
                  <a:srgbClr val="D8E0EC"/>
                </a:solidFill>
                <a:latin typeface="Consolas" pitchFamily="34" charset="0"/>
                <a:ea typeface="Consolas" pitchFamily="34" charset="-122"/>
                <a:cs typeface="Consolas" pitchFamily="34" charset="-120"/>
              </a:rPr>
              <a:t>  environment:</a:t>
            </a:r>
            <a:endParaRPr lang="en-US" sz="1100" dirty="0"/>
          </a:p>
          <a:p>
            <a:pPr indent="0" marL="0">
              <a:lnSpc>
                <a:spcPct val="114000"/>
              </a:lnSpc>
              <a:buNone/>
            </a:pPr>
            <a:r>
              <a:rPr lang="en-US" sz="1100" dirty="0">
                <a:solidFill>
                  <a:srgbClr val="9FE7C6"/>
                </a:solidFill>
                <a:latin typeface="Consolas" pitchFamily="34" charset="0"/>
                <a:ea typeface="Consolas" pitchFamily="34" charset="-122"/>
                <a:cs typeface="Consolas" pitchFamily="34" charset="-120"/>
              </a:rPr>
              <a:t>    Bots__Mood__Enabled: "true"</a:t>
            </a:r>
            <a:endParaRPr lang="en-US" sz="1100" dirty="0"/>
          </a:p>
          <a:p>
            <a:pPr indent="0" marL="0">
              <a:lnSpc>
                <a:spcPct val="114000"/>
              </a:lnSpc>
              <a:buNone/>
            </a:pPr>
            <a:r>
              <a:rPr lang="en-US" sz="1100" dirty="0">
                <a:solidFill>
                  <a:srgbClr val="9FE7C6"/>
                </a:solidFill>
                <a:latin typeface="Consolas" pitchFamily="34" charset="0"/>
                <a:ea typeface="Consolas" pitchFamily="34" charset="-122"/>
                <a:cs typeface="Consolas" pitchFamily="34" charset="-120"/>
              </a:rPr>
              <a:t>    Bots__Mood__TakerCoupling: "true"</a:t>
            </a:r>
            <a:endParaRPr lang="en-US" sz="1100" dirty="0"/>
          </a:p>
          <a:p>
            <a:pPr indent="0" marL="0">
              <a:lnSpc>
                <a:spcPct val="114000"/>
              </a:lnSpc>
              <a:buNone/>
            </a:pPr>
            <a:r>
              <a:rPr lang="en-US" sz="1100" dirty="0">
                <a:solidFill>
                  <a:srgbClr val="9FE7C6"/>
                </a:solidFill>
                <a:latin typeface="Consolas" pitchFamily="34" charset="0"/>
                <a:ea typeface="Consolas" pitchFamily="34" charset="-122"/>
                <a:cs typeface="Consolas" pitchFamily="34" charset="-120"/>
              </a:rPr>
              <a:t>    Bots__Mood__PerStrategy: "true"</a:t>
            </a:r>
            <a:endParaRPr lang="en-US" sz="1100" dirty="0"/>
          </a:p>
          <a:p>
            <a:pPr indent="0" marL="0">
              <a:lnSpc>
                <a:spcPct val="114000"/>
              </a:lnSpc>
              <a:buNone/>
            </a:pPr>
            <a:r>
              <a:rPr lang="en-US" sz="1100" dirty="0">
                <a:solidFill>
                  <a:srgbClr val="F5CE7B"/>
                </a:solidFill>
                <a:latin typeface="Consolas" pitchFamily="34" charset="0"/>
                <a:ea typeface="Consolas" pitchFamily="34" charset="-122"/>
                <a:cs typeface="Consolas" pitchFamily="34" charset="-120"/>
              </a:rPr>
              <a:t>    Bots__ExogShock__Enabled: "true"</a:t>
            </a:r>
            <a:endParaRPr lang="en-US" sz="1100" dirty="0"/>
          </a:p>
          <a:p>
            <a:pPr indent="0" marL="0">
              <a:lnSpc>
                <a:spcPct val="114000"/>
              </a:lnSpc>
              <a:buNone/>
            </a:pPr>
            <a:r>
              <a:rPr lang="en-US" sz="1100" dirty="0">
                <a:solidFill>
                  <a:srgbClr val="F5CE7B"/>
                </a:solidFill>
                <a:latin typeface="Consolas" pitchFamily="34" charset="0"/>
                <a:ea typeface="Consolas" pitchFamily="34" charset="-122"/>
                <a:cs typeface="Consolas" pitchFamily="34" charset="-120"/>
              </a:rPr>
              <a:t>    Bots__ExogShock__GlobalCoFire: "true"</a:t>
            </a:r>
            <a:endParaRPr lang="en-US" sz="1100" dirty="0"/>
          </a:p>
          <a:p>
            <a:pPr indent="0" marL="0">
              <a:lnSpc>
                <a:spcPct val="114000"/>
              </a:lnSpc>
              <a:buNone/>
            </a:pPr>
            <a:r>
              <a:rPr lang="en-US" sz="1100" dirty="0">
                <a:solidFill>
                  <a:srgbClr val="F5CE7B"/>
                </a:solidFill>
                <a:latin typeface="Consolas" pitchFamily="34" charset="0"/>
                <a:ea typeface="Consolas" pitchFamily="34" charset="-122"/>
                <a:cs typeface="Consolas" pitchFamily="34" charset="-120"/>
              </a:rPr>
              <a:t>    Bots__ExogShock__GlobalCoFireNotionalFrac: "0.1"</a:t>
            </a:r>
            <a:endParaRPr lang="en-US" sz="1100" dirty="0"/>
          </a:p>
          <a:p>
            <a:pPr indent="0" marL="0">
              <a:lnSpc>
                <a:spcPct val="114000"/>
              </a:lnSpc>
              <a:buNone/>
            </a:pPr>
            <a:endParaRPr lang="en-US" sz="1100" dirty="0"/>
          </a:p>
          <a:p>
            <a:pPr indent="0" marL="0">
              <a:lnSpc>
                <a:spcPct val="114000"/>
              </a:lnSpc>
              <a:buNone/>
            </a:pPr>
            <a:r>
              <a:rPr lang="en-US" sz="1100" dirty="0">
                <a:solidFill>
                  <a:srgbClr val="8A95A5"/>
                </a:solidFill>
                <a:latin typeface="Consolas" pitchFamily="34" charset="0"/>
                <a:ea typeface="Consolas" pitchFamily="34" charset="-122"/>
                <a:cs typeface="Consolas" pitchFamily="34" charset="-120"/>
              </a:rPr>
              <a:t>  # roll back = delete the line + up -d server</a:t>
            </a:r>
            <a:endParaRPr lang="en-US" sz="110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ON in prod, default-off in code</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Fear/Greed per-strategy reaction — live since 2026-07-14.</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GlobalCoFire cross-stock correlation @0.10 — council-approved.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No schema, no rebuild — reversible in one restart.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Backups on the box for a full config restore.</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Each line maps to a Bots:Mood:* / Bots:ExogShock:* key by the __→: rule</a:t>
            </a:r>
            <a:endParaRPr lang="en-US" sz="1000" dirty="0"/>
          </a:p>
        </p:txBody>
      </p:sp>
      <p:sp>
        <p:nvSpPr>
          <p:cNvPr id="15" name="Shape 13"/>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06</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REQUEST PIPELINE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6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pipeline authenticates, limits, and checks health</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16C784"/>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60</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orders / min</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per-user fixed window · else 429</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16C784"/>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10</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logins / min</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per-IP auth cap</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16C784"/>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256</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MB body cap</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settle-group bundle at peak load</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16C784"/>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live</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healthcheck</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liveness, not readiness — no restart loops</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Middleware order matters</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Forwarded headers first — see the real client behind Caddy.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JWT required on every endpoint unless AllowAnonymous.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Prod boot throws if the signing key is still the dev key.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SignalR lifts its token from ?access_token= on the WS upgrade.</a:t>
            </a:r>
            <a:endParaRPr lang="en-US" sz="1400" dirty="0"/>
          </a:p>
        </p:txBody>
      </p:sp>
      <p:sp>
        <p:nvSpPr>
          <p:cNvPr id="27" name="Text 25"/>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/healthz/live = process up · /healthz/ready = DB reachable · both anonymous</a:t>
            </a:r>
            <a:endParaRPr lang="en-US" sz="1000" dirty="0"/>
          </a:p>
        </p:txBody>
      </p:sp>
      <p:sp>
        <p:nvSpPr>
          <p:cNvPr id="28" name="Shape 26"/>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30" name="Shape 28"/>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31" name="Text 29"/>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32" name="Shape 30"/>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4" name="Shape 32"/>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6" name="Shape 34"/>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8" name="Shape 36"/>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40" name="Shape 38"/>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1" name="Text 39"/>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06</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DEPLOY + ROLLBACK</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6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A change reaches the box, and unwinds, cheapest first</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Deploy</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git pull → up -d --build</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0E9F6E"/>
          </a:solidFill>
          <a:ln w="12700">
            <a:solidFill>
              <a:srgbClr val="0E9F6E"/>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Flip a lever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edit env line → up -d server</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44557A"/>
          </a:solidFill>
          <a:ln w="12700">
            <a:solidFill>
              <a:srgbClr val="44557A"/>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Roll back code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git checkout prev tip → rebuild</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EA3943"/>
          </a:solidFill>
          <a:ln w="12700">
            <a:solidFill>
              <a:srgbClr val="EA3943"/>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Restore data</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pg_dump backup + pre-change tip</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Three containers, one network</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postgres + server + caddy, up -d together.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Caddy terminates TLS and reverse-proxies to :8080.</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Run the migrate one-shot first if the pull added migrations.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Verify: /healthz/ready, /api/version, an order burst hits 429.</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Config-flag rollback touches no data and needs no rebuild — the standard lever unwind</a:t>
            </a:r>
            <a:endParaRPr lang="en-US" sz="1000" dirty="0"/>
          </a:p>
        </p:txBody>
      </p:sp>
      <p:sp>
        <p:nvSpPr>
          <p:cNvPr id="23" name="Shape 21"/>
          <p:cNvSpPr/>
          <p:nvPr/>
        </p:nvSpPr>
        <p:spPr>
          <a:xfrm>
            <a:off x="45720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F5B942"/>
          </a:solidFill>
          <a:ln w="12700">
            <a:solidFill>
              <a:srgbClr val="F5B942"/>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F5B942"/>
          </a:solidFill>
          <a:ln w="12700">
            <a:solidFill>
              <a:srgbClr val="F5B942"/>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F5B942"/>
          </a:solidFill>
          <a:ln w="12700">
            <a:solidFill>
              <a:srgbClr val="F5B942"/>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F5B942"/>
          </a:solidFill>
          <a:ln w="12700">
            <a:solidFill>
              <a:srgbClr val="F5B942"/>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F5B942"/>
          </a:solidFill>
          <a:ln w="12700">
            <a:solidFill>
              <a:srgbClr val="F5B942"/>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F5B942"/>
          </a:solidFill>
          <a:ln w="12700">
            <a:solidFill>
              <a:srgbClr val="F5B942"/>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097280"/>
            <a:ext cx="1005840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TAKEAWAYS</a:t>
            </a:r>
            <a:endParaRPr lang="en-US" sz="1300" dirty="0"/>
          </a:p>
        </p:txBody>
      </p:sp>
      <p:sp>
        <p:nvSpPr>
          <p:cNvPr id="4" name="Text 2"/>
          <p:cNvSpPr/>
          <p:nvPr/>
        </p:nvSpPr>
        <p:spPr>
          <a:xfrm>
            <a:off x="868680" y="1691640"/>
            <a:ext cx="10424160" cy="3017520"/>
          </a:xfrm>
          <a:prstGeom prst="rect">
            <a:avLst/>
          </a:prstGeom>
          <a:noFill/>
          <a:ln/>
        </p:spPr>
        <p:txBody>
          <a:bodyPr wrap="square" rtlCol="0" anchor="t"/>
          <a:lstStyle/>
          <a:p>
            <a:pPr marL="228600" indent="-228600">
              <a:lnSpc>
                <a:spcPct val="105000"/>
              </a:lnSpc>
              <a:buSzPct val="100000"/>
              <a:buChar char="•"/>
            </a:pPr>
            <a:r>
              <a:rPr lang="en-US" sz="2000" b="1" dirty="0">
                <a:solidFill>
                  <a:srgbClr val="E6ECF4"/>
                </a:solidFill>
                <a:latin typeface="Segoe UI" pitchFamily="34" charset="0"/>
                <a:ea typeface="Segoe UI" pitchFamily="34" charset="-122"/>
                <a:cs typeface="Segoe UI" pitchFamily="34" charset="-120"/>
              </a:rPr>
              <a:t>One .NET 9 process: API, hub, engine, and a fleet of background actors.</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Three config tiers merge — the compose env line is the reversible knob.</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Deploy and rollback are cheapest-first; a lever unwinds in one restart.</a:t>
            </a:r>
            <a:endParaRPr lang="en-US" sz="2000" dirty="0"/>
          </a:p>
        </p:txBody>
      </p:sp>
      <p:sp>
        <p:nvSpPr>
          <p:cNvPr id="5" name="Shape 3"/>
          <p:cNvSpPr/>
          <p:nvPr/>
        </p:nvSpPr>
        <p:spPr>
          <a:xfrm>
            <a:off x="822960" y="5212080"/>
            <a:ext cx="10515600" cy="777240"/>
          </a:xfrm>
          <a:prstGeom prst="roundRect">
            <a:avLst>
              <a:gd name="adj" fmla="val 11765"/>
            </a:avLst>
          </a:prstGeom>
          <a:solidFill>
            <a:srgbClr val="182536"/>
          </a:solidFill>
          <a:ln w="12700">
            <a:solidFill>
              <a:srgbClr val="24344A"/>
            </a:solidFill>
            <a:prstDash val="solid"/>
          </a:ln>
        </p:spPr>
      </p:sp>
      <p:sp>
        <p:nvSpPr>
          <p:cNvPr id="6" name="Text 4"/>
          <p:cNvSpPr/>
          <p:nvPr/>
        </p:nvSpPr>
        <p:spPr>
          <a:xfrm>
            <a:off x="1051560" y="5212080"/>
            <a:ext cx="10058400" cy="777240"/>
          </a:xfrm>
          <a:prstGeom prst="rect">
            <a:avLst/>
          </a:prstGeom>
          <a:noFill/>
          <a:ln/>
        </p:spPr>
        <p:txBody>
          <a:bodyPr wrap="square" lIns="0" tIns="0" rIns="0" bIns="0" rtlCol="0" anchor="ctr"/>
          <a:lstStyle/>
          <a:p>
            <a:pPr indent="0" marL="0">
              <a:buNone/>
            </a:pPr>
            <a:r>
              <a:rPr lang="en-US" sz="1400" b="1" dirty="0">
                <a:solidFill>
                  <a:srgbClr val="F5B942"/>
                </a:solidFill>
                <a:latin typeface="Segoe UI" pitchFamily="34" charset="0"/>
                <a:ea typeface="Segoe UI" pitchFamily="34" charset="-122"/>
                <a:cs typeface="Segoe UI" pitchFamily="34" charset="-120"/>
              </a:rPr>
              <a:t>NEXT   </a:t>
            </a:r>
            <a:pPr indent="0" marL="0">
              <a:buNone/>
            </a:pPr>
            <a:r>
              <a:rPr lang="en-US" sz="1600" dirty="0">
                <a:solidFill>
                  <a:srgbClr val="E6ECF4"/>
                </a:solidFill>
                <a:latin typeface="Segoe UI" pitchFamily="34" charset="0"/>
                <a:ea typeface="Segoe UI" pitchFamily="34" charset="-122"/>
                <a:cs typeface="Segoe UI" pitchFamily="34" charset="-120"/>
              </a:rPr>
              <a:t>DATA_LAYER — where all of this durably lands: Postgres via Dapper</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6279A6"/>
          </a:solidFill>
          <a:ln/>
        </p:spPr>
      </p:sp>
      <p:sp>
        <p:nvSpPr>
          <p:cNvPr id="3" name="Text 1"/>
          <p:cNvSpPr/>
          <p:nvPr/>
        </p:nvSpPr>
        <p:spPr>
          <a:xfrm>
            <a:off x="822960" y="1325880"/>
            <a:ext cx="10424160" cy="365760"/>
          </a:xfrm>
          <a:prstGeom prst="rect">
            <a:avLst/>
          </a:prstGeom>
          <a:noFill/>
          <a:ln/>
        </p:spPr>
        <p:txBody>
          <a:bodyPr wrap="square" rtlCol="0" anchor="ctr"/>
          <a:lstStyle/>
          <a:p>
            <a:pPr indent="0" marL="0">
              <a:buNone/>
            </a:pPr>
            <a:r>
              <a:rPr lang="en-US" sz="1300" b="1" spc="400" kern="0" dirty="0">
                <a:solidFill>
                  <a:srgbClr val="6279A6"/>
                </a:solidFill>
                <a:latin typeface="Segoe UI" pitchFamily="34" charset="0"/>
                <a:ea typeface="Segoe UI" pitchFamily="34" charset="-122"/>
                <a:cs typeface="Segoe UI" pitchFamily="34" charset="-120"/>
              </a:rPr>
              <a:t>PRODUCT EXPLAINER · 7 OF 7 · THE SCREEN THE USER SEES</a:t>
            </a:r>
            <a:endParaRPr lang="en-US" sz="1300" dirty="0"/>
          </a:p>
        </p:txBody>
      </p:sp>
      <p:sp>
        <p:nvSpPr>
          <p:cNvPr id="4" name="Text 2"/>
          <p:cNvSpPr/>
          <p:nvPr/>
        </p:nvSpPr>
        <p:spPr>
          <a:xfrm>
            <a:off x="777240" y="1737360"/>
            <a:ext cx="10607040" cy="1828800"/>
          </a:xfrm>
          <a:prstGeom prst="rect">
            <a:avLst/>
          </a:prstGeom>
          <a:noFill/>
          <a:ln/>
        </p:spPr>
        <p:txBody>
          <a:bodyPr wrap="square" rtlCol="0" anchor="t"/>
          <a:lstStyle/>
          <a:p>
            <a:pPr indent="0" marL="0">
              <a:lnSpc>
                <a:spcPct val="100000"/>
              </a:lnSpc>
              <a:buNone/>
            </a:pPr>
            <a:r>
              <a:rPr lang="en-US" sz="4400" b="1" dirty="0">
                <a:solidFill>
                  <a:srgbClr val="FFFFFF"/>
                </a:solidFill>
                <a:latin typeface="Segoe UI" pitchFamily="34" charset="0"/>
                <a:ea typeface="Segoe UI" pitchFamily="34" charset="-122"/>
                <a:cs typeface="Segoe UI" pitchFamily="34" charset="-120"/>
              </a:rPr>
              <a:t>The Desktop Client</a:t>
            </a:r>
            <a:endParaRPr lang="en-US" sz="4400" dirty="0"/>
          </a:p>
        </p:txBody>
      </p:sp>
      <p:sp>
        <p:nvSpPr>
          <p:cNvPr id="5" name="Text 3"/>
          <p:cNvSpPr/>
          <p:nvPr/>
        </p:nvSpPr>
        <p:spPr>
          <a:xfrm>
            <a:off x="822960" y="3703320"/>
            <a:ext cx="10149840" cy="1371600"/>
          </a:xfrm>
          <a:prstGeom prst="rect">
            <a:avLst/>
          </a:prstGeom>
          <a:noFill/>
          <a:ln/>
        </p:spPr>
        <p:txBody>
          <a:bodyPr wrap="square" rtlCol="0" anchor="ctr"/>
          <a:lstStyle/>
          <a:p>
            <a:pPr indent="0" marL="0">
              <a:lnSpc>
                <a:spcPct val="116000"/>
              </a:lnSpc>
              <a:buNone/>
            </a:pPr>
            <a:r>
              <a:rPr lang="en-US" sz="1900" dirty="0">
                <a:solidFill>
                  <a:srgbClr val="C7D0DC"/>
                </a:solidFill>
                <a:latin typeface="Segoe UI" pitchFamily="34" charset="0"/>
                <a:ea typeface="Segoe UI" pitchFamily="34" charset="-122"/>
                <a:cs typeface="Segoe UI" pitchFamily="34" charset="-120"/>
              </a:rPr>
              <a:t>A .NET MAUI Windows app — a thin presentation shell. It renders quotes, charts, and tickets; it never matches. Every live number arrives from the one server.</a:t>
            </a:r>
            <a:endParaRPr lang="en-US" sz="1900" dirty="0"/>
          </a:p>
        </p:txBody>
      </p:sp>
      <p:sp>
        <p:nvSpPr>
          <p:cNvPr id="6" name="Shape 4"/>
          <p:cNvSpPr/>
          <p:nvPr/>
        </p:nvSpPr>
        <p:spPr>
          <a:xfrm>
            <a:off x="822960" y="5806440"/>
            <a:ext cx="1417320" cy="457200"/>
          </a:xfrm>
          <a:prstGeom prst="roundRect">
            <a:avLst>
              <a:gd name="adj" fmla="val 50000"/>
            </a:avLst>
          </a:prstGeom>
          <a:solidFill>
            <a:srgbClr val="182536"/>
          </a:solidFill>
          <a:ln w="12700">
            <a:solidFill>
              <a:srgbClr val="16C784"/>
            </a:solidFill>
            <a:prstDash val="solid"/>
          </a:ln>
        </p:spPr>
      </p:sp>
      <p:sp>
        <p:nvSpPr>
          <p:cNvPr id="7" name="Text 5"/>
          <p:cNvSpPr/>
          <p:nvPr/>
        </p:nvSpPr>
        <p:spPr>
          <a:xfrm>
            <a:off x="822960" y="5806440"/>
            <a:ext cx="1417320" cy="457200"/>
          </a:xfrm>
          <a:prstGeom prst="rect">
            <a:avLst/>
          </a:prstGeom>
          <a:noFill/>
          <a:ln/>
        </p:spPr>
        <p:txBody>
          <a:bodyPr wrap="square" lIns="0" tIns="0" rIns="0" bIns="0" rtlCol="0" anchor="ctr"/>
          <a:lstStyle/>
          <a:p>
            <a:pPr algn="ctr" indent="0" marL="0">
              <a:buNone/>
            </a:pPr>
            <a:r>
              <a:rPr lang="en-US" sz="1400" b="1" dirty="0">
                <a:solidFill>
                  <a:srgbClr val="16C784"/>
                </a:solidFill>
                <a:latin typeface="Consolas" pitchFamily="34" charset="0"/>
                <a:ea typeface="Consolas" pitchFamily="34" charset="-122"/>
                <a:cs typeface="Consolas" pitchFamily="34" charset="-120"/>
              </a:rPr>
              <a:t>Σ Δ = 0</a:t>
            </a:r>
            <a:endParaRPr lang="en-US" sz="1400" dirty="0"/>
          </a:p>
        </p:txBody>
      </p:sp>
      <p:sp>
        <p:nvSpPr>
          <p:cNvPr id="8" name="Text 6"/>
          <p:cNvSpPr/>
          <p:nvPr/>
        </p:nvSpPr>
        <p:spPr>
          <a:xfrm>
            <a:off x="2423160" y="5806440"/>
            <a:ext cx="8869680" cy="457200"/>
          </a:xfrm>
          <a:prstGeom prst="rect">
            <a:avLst/>
          </a:prstGeom>
          <a:noFill/>
          <a:ln/>
        </p:spPr>
        <p:txBody>
          <a:bodyPr wrap="square" lIns="0" tIns="0" rIns="0" bIns="0" rtlCol="0" anchor="ctr"/>
          <a:lstStyle/>
          <a:p>
            <a:pPr indent="0" marL="0">
              <a:buNone/>
            </a:pPr>
            <a:r>
              <a:rPr lang="en-US" sz="1100" dirty="0">
                <a:solidFill>
                  <a:srgbClr val="8A95A5"/>
                </a:solidFill>
                <a:latin typeface="Segoe UI" pitchFamily="34" charset="0"/>
                <a:ea typeface="Segoe UI" pitchFamily="34" charset="-122"/>
                <a:cs typeface="Segoe UI" pitchFamily="34" charset="-120"/>
              </a:rPr>
              <a:t>CLIENT_STRUCTURE.md   ·   the head over the engine</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YOU ARE HERE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client is the front of the pipeline — CLIENT only</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548640" y="2286000"/>
            <a:ext cx="1470878" cy="868680"/>
          </a:xfrm>
          <a:prstGeom prst="roundRect">
            <a:avLst>
              <a:gd name="adj" fmla="val 6316"/>
            </a:avLst>
          </a:prstGeom>
          <a:solidFill>
            <a:srgbClr val="F5B942"/>
          </a:solidFill>
          <a:ln w="12700">
            <a:solidFill>
              <a:srgbClr val="F5B942"/>
            </a:solidFill>
            <a:prstDash val="solid"/>
          </a:ln>
        </p:spPr>
      </p:sp>
      <p:sp>
        <p:nvSpPr>
          <p:cNvPr id="10" name="Text 8"/>
          <p:cNvSpPr/>
          <p:nvPr/>
        </p:nvSpPr>
        <p:spPr>
          <a:xfrm>
            <a:off x="548640" y="2286000"/>
            <a:ext cx="1470878" cy="868680"/>
          </a:xfrm>
          <a:prstGeom prst="rect">
            <a:avLst/>
          </a:prstGeom>
          <a:noFill/>
          <a:ln/>
        </p:spPr>
        <p:txBody>
          <a:bodyPr wrap="square" lIns="0" tIns="0" rIns="0" bIns="0" rtlCol="0" anchor="ctr"/>
          <a:lstStyle/>
          <a:p>
            <a:pPr algn="ctr" indent="0" marL="0">
              <a:buNone/>
            </a:pPr>
            <a:r>
              <a:rPr lang="en-US" sz="1100" b="1" dirty="0">
                <a:solidFill>
                  <a:srgbClr val="0E1420"/>
                </a:solidFill>
                <a:latin typeface="Segoe UI" pitchFamily="34" charset="0"/>
                <a:ea typeface="Segoe UI" pitchFamily="34" charset="-122"/>
                <a:cs typeface="Segoe UI" pitchFamily="34" charset="-120"/>
              </a:rPr>
              <a:t>CLIENT</a:t>
            </a:r>
            <a:endParaRPr lang="en-US" sz="1100" dirty="0"/>
          </a:p>
        </p:txBody>
      </p:sp>
      <p:sp>
        <p:nvSpPr>
          <p:cNvPr id="11" name="Shape 9"/>
          <p:cNvSpPr/>
          <p:nvPr/>
        </p:nvSpPr>
        <p:spPr>
          <a:xfrm>
            <a:off x="2019518" y="2720340"/>
            <a:ext cx="128016" cy="0"/>
          </a:xfrm>
          <a:prstGeom prst="line">
            <a:avLst/>
          </a:prstGeom>
          <a:noFill/>
          <a:ln w="19050">
            <a:solidFill>
              <a:srgbClr val="B9C2CE"/>
            </a:solidFill>
            <a:prstDash val="solid"/>
            <a:tailEnd type="triangle"/>
          </a:ln>
        </p:spPr>
      </p:sp>
      <p:sp>
        <p:nvSpPr>
          <p:cNvPr id="12" name="Shape 10"/>
          <p:cNvSpPr/>
          <p:nvPr/>
        </p:nvSpPr>
        <p:spPr>
          <a:xfrm>
            <a:off x="2147534" y="2286000"/>
            <a:ext cx="1470878" cy="868680"/>
          </a:xfrm>
          <a:prstGeom prst="roundRect">
            <a:avLst>
              <a:gd name="adj" fmla="val 6316"/>
            </a:avLst>
          </a:prstGeom>
          <a:solidFill>
            <a:srgbClr val="44557A"/>
          </a:solidFill>
          <a:ln w="12700">
            <a:solidFill>
              <a:srgbClr val="44557A"/>
            </a:solidFill>
            <a:prstDash val="solid"/>
          </a:ln>
        </p:spPr>
      </p:sp>
      <p:sp>
        <p:nvSpPr>
          <p:cNvPr id="13" name="Text 11"/>
          <p:cNvSpPr/>
          <p:nvPr/>
        </p:nvSpPr>
        <p:spPr>
          <a:xfrm>
            <a:off x="2147534"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API</a:t>
            </a:r>
            <a:endParaRPr lang="en-US" sz="1100" dirty="0"/>
          </a:p>
        </p:txBody>
      </p:sp>
      <p:sp>
        <p:nvSpPr>
          <p:cNvPr id="14" name="Shape 12"/>
          <p:cNvSpPr/>
          <p:nvPr/>
        </p:nvSpPr>
        <p:spPr>
          <a:xfrm>
            <a:off x="3618411" y="2720340"/>
            <a:ext cx="128016" cy="0"/>
          </a:xfrm>
          <a:prstGeom prst="line">
            <a:avLst/>
          </a:prstGeom>
          <a:noFill/>
          <a:ln w="19050">
            <a:solidFill>
              <a:srgbClr val="B9C2CE"/>
            </a:solidFill>
            <a:prstDash val="solid"/>
            <a:tailEnd type="triangle"/>
          </a:ln>
        </p:spPr>
      </p:sp>
      <p:sp>
        <p:nvSpPr>
          <p:cNvPr id="15" name="Shape 13"/>
          <p:cNvSpPr/>
          <p:nvPr/>
        </p:nvSpPr>
        <p:spPr>
          <a:xfrm>
            <a:off x="3746427" y="2286000"/>
            <a:ext cx="1470878" cy="868680"/>
          </a:xfrm>
          <a:prstGeom prst="roundRect">
            <a:avLst>
              <a:gd name="adj" fmla="val 6316"/>
            </a:avLst>
          </a:prstGeom>
          <a:solidFill>
            <a:srgbClr val="44557A"/>
          </a:solidFill>
          <a:ln w="12700">
            <a:solidFill>
              <a:srgbClr val="44557A"/>
            </a:solidFill>
            <a:prstDash val="solid"/>
          </a:ln>
        </p:spPr>
      </p:sp>
      <p:sp>
        <p:nvSpPr>
          <p:cNvPr id="16" name="Text 14"/>
          <p:cNvSpPr/>
          <p:nvPr/>
        </p:nvSpPr>
        <p:spPr>
          <a:xfrm>
            <a:off x="3746427"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ENTRY</a:t>
            </a:r>
            <a:endParaRPr lang="en-US" sz="1100" dirty="0"/>
          </a:p>
        </p:txBody>
      </p:sp>
      <p:sp>
        <p:nvSpPr>
          <p:cNvPr id="17" name="Shape 15"/>
          <p:cNvSpPr/>
          <p:nvPr/>
        </p:nvSpPr>
        <p:spPr>
          <a:xfrm>
            <a:off x="5217305" y="2720340"/>
            <a:ext cx="128016" cy="0"/>
          </a:xfrm>
          <a:prstGeom prst="line">
            <a:avLst/>
          </a:prstGeom>
          <a:noFill/>
          <a:ln w="19050">
            <a:solidFill>
              <a:srgbClr val="B9C2CE"/>
            </a:solidFill>
            <a:prstDash val="solid"/>
            <a:tailEnd type="triangle"/>
          </a:ln>
        </p:spPr>
      </p:sp>
      <p:sp>
        <p:nvSpPr>
          <p:cNvPr id="18" name="Shape 16"/>
          <p:cNvSpPr/>
          <p:nvPr/>
        </p:nvSpPr>
        <p:spPr>
          <a:xfrm>
            <a:off x="5345321" y="2286000"/>
            <a:ext cx="1470878" cy="868680"/>
          </a:xfrm>
          <a:prstGeom prst="roundRect">
            <a:avLst>
              <a:gd name="adj" fmla="val 6316"/>
            </a:avLst>
          </a:prstGeom>
          <a:solidFill>
            <a:srgbClr val="44557A"/>
          </a:solidFill>
          <a:ln w="12700">
            <a:solidFill>
              <a:srgbClr val="44557A"/>
            </a:solidFill>
            <a:prstDash val="solid"/>
          </a:ln>
        </p:spPr>
      </p:sp>
      <p:sp>
        <p:nvSpPr>
          <p:cNvPr id="19" name="Text 17"/>
          <p:cNvSpPr/>
          <p:nvPr/>
        </p:nvSpPr>
        <p:spPr>
          <a:xfrm>
            <a:off x="5345321"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EXEC</a:t>
            </a:r>
            <a:endParaRPr lang="en-US" sz="1100" dirty="0"/>
          </a:p>
        </p:txBody>
      </p:sp>
      <p:sp>
        <p:nvSpPr>
          <p:cNvPr id="20" name="Shape 18"/>
          <p:cNvSpPr/>
          <p:nvPr/>
        </p:nvSpPr>
        <p:spPr>
          <a:xfrm>
            <a:off x="6816199" y="2720340"/>
            <a:ext cx="128016" cy="0"/>
          </a:xfrm>
          <a:prstGeom prst="line">
            <a:avLst/>
          </a:prstGeom>
          <a:noFill/>
          <a:ln w="19050">
            <a:solidFill>
              <a:srgbClr val="B9C2CE"/>
            </a:solidFill>
            <a:prstDash val="solid"/>
            <a:tailEnd type="triangle"/>
          </a:ln>
        </p:spPr>
      </p:sp>
      <p:sp>
        <p:nvSpPr>
          <p:cNvPr id="21" name="Shape 19"/>
          <p:cNvSpPr/>
          <p:nvPr/>
        </p:nvSpPr>
        <p:spPr>
          <a:xfrm>
            <a:off x="6944215" y="2286000"/>
            <a:ext cx="1470878" cy="868680"/>
          </a:xfrm>
          <a:prstGeom prst="roundRect">
            <a:avLst>
              <a:gd name="adj" fmla="val 6316"/>
            </a:avLst>
          </a:prstGeom>
          <a:solidFill>
            <a:srgbClr val="44557A"/>
          </a:solidFill>
          <a:ln w="12700">
            <a:solidFill>
              <a:srgbClr val="44557A"/>
            </a:solidFill>
            <a:prstDash val="solid"/>
          </a:ln>
        </p:spPr>
      </p:sp>
      <p:sp>
        <p:nvSpPr>
          <p:cNvPr id="22" name="Text 20"/>
          <p:cNvSpPr/>
          <p:nvPr/>
        </p:nvSpPr>
        <p:spPr>
          <a:xfrm>
            <a:off x="6944215"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MATCH</a:t>
            </a:r>
            <a:endParaRPr lang="en-US" sz="1100" dirty="0"/>
          </a:p>
        </p:txBody>
      </p:sp>
      <p:sp>
        <p:nvSpPr>
          <p:cNvPr id="23" name="Shape 21"/>
          <p:cNvSpPr/>
          <p:nvPr/>
        </p:nvSpPr>
        <p:spPr>
          <a:xfrm>
            <a:off x="8415093" y="2720340"/>
            <a:ext cx="128016" cy="0"/>
          </a:xfrm>
          <a:prstGeom prst="line">
            <a:avLst/>
          </a:prstGeom>
          <a:noFill/>
          <a:ln w="19050">
            <a:solidFill>
              <a:srgbClr val="B9C2CE"/>
            </a:solidFill>
            <a:prstDash val="solid"/>
            <a:tailEnd type="triangle"/>
          </a:ln>
        </p:spPr>
      </p:sp>
      <p:sp>
        <p:nvSpPr>
          <p:cNvPr id="24" name="Shape 22"/>
          <p:cNvSpPr/>
          <p:nvPr/>
        </p:nvSpPr>
        <p:spPr>
          <a:xfrm>
            <a:off x="8543109" y="2286000"/>
            <a:ext cx="1470878" cy="868680"/>
          </a:xfrm>
          <a:prstGeom prst="roundRect">
            <a:avLst>
              <a:gd name="adj" fmla="val 6316"/>
            </a:avLst>
          </a:prstGeom>
          <a:solidFill>
            <a:srgbClr val="44557A"/>
          </a:solidFill>
          <a:ln w="12700">
            <a:solidFill>
              <a:srgbClr val="44557A"/>
            </a:solidFill>
            <a:prstDash val="solid"/>
          </a:ln>
        </p:spPr>
      </p:sp>
      <p:sp>
        <p:nvSpPr>
          <p:cNvPr id="25" name="Text 23"/>
          <p:cNvSpPr/>
          <p:nvPr/>
        </p:nvSpPr>
        <p:spPr>
          <a:xfrm>
            <a:off x="8543109"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SETTLE</a:t>
            </a:r>
            <a:endParaRPr lang="en-US" sz="1100" dirty="0"/>
          </a:p>
        </p:txBody>
      </p:sp>
      <p:sp>
        <p:nvSpPr>
          <p:cNvPr id="26" name="Shape 24"/>
          <p:cNvSpPr/>
          <p:nvPr/>
        </p:nvSpPr>
        <p:spPr>
          <a:xfrm>
            <a:off x="10013986" y="2720340"/>
            <a:ext cx="128016" cy="0"/>
          </a:xfrm>
          <a:prstGeom prst="line">
            <a:avLst/>
          </a:prstGeom>
          <a:noFill/>
          <a:ln w="19050">
            <a:solidFill>
              <a:srgbClr val="B9C2CE"/>
            </a:solidFill>
            <a:prstDash val="solid"/>
            <a:tailEnd type="triangle"/>
          </a:ln>
        </p:spPr>
      </p:sp>
      <p:sp>
        <p:nvSpPr>
          <p:cNvPr id="27" name="Shape 25"/>
          <p:cNvSpPr/>
          <p:nvPr/>
        </p:nvSpPr>
        <p:spPr>
          <a:xfrm>
            <a:off x="10142002" y="2286000"/>
            <a:ext cx="1470878" cy="868680"/>
          </a:xfrm>
          <a:prstGeom prst="roundRect">
            <a:avLst>
              <a:gd name="adj" fmla="val 6316"/>
            </a:avLst>
          </a:prstGeom>
          <a:solidFill>
            <a:srgbClr val="44557A"/>
          </a:solidFill>
          <a:ln w="12700">
            <a:solidFill>
              <a:srgbClr val="44557A"/>
            </a:solidFill>
            <a:prstDash val="solid"/>
          </a:ln>
        </p:spPr>
      </p:sp>
      <p:sp>
        <p:nvSpPr>
          <p:cNvPr id="28" name="Text 26"/>
          <p:cNvSpPr/>
          <p:nvPr/>
        </p:nvSpPr>
        <p:spPr>
          <a:xfrm>
            <a:off x="10142002" y="2286000"/>
            <a:ext cx="1470878" cy="868680"/>
          </a:xfrm>
          <a:prstGeom prst="rect">
            <a:avLst/>
          </a:prstGeom>
          <a:noFill/>
          <a:ln/>
        </p:spPr>
        <p:txBody>
          <a:bodyPr wrap="square" lIns="0" tIns="0" rIns="0" bIns="0" rtlCol="0" anchor="ctr"/>
          <a:lstStyle/>
          <a:p>
            <a:pPr algn="ctr" indent="0" marL="0">
              <a:buNone/>
            </a:pPr>
            <a:r>
              <a:rPr lang="en-US" sz="1100" b="1" dirty="0">
                <a:solidFill>
                  <a:srgbClr val="DCE5F2"/>
                </a:solidFill>
                <a:latin typeface="Segoe UI" pitchFamily="34" charset="0"/>
                <a:ea typeface="Segoe UI" pitchFamily="34" charset="-122"/>
                <a:cs typeface="Segoe UI" pitchFamily="34" charset="-120"/>
              </a:rPr>
              <a:t>DB</a:t>
            </a:r>
            <a:endParaRPr lang="en-US" sz="1100" dirty="0"/>
          </a:p>
        </p:txBody>
      </p:sp>
      <p:sp>
        <p:nvSpPr>
          <p:cNvPr id="29" name="Text 27"/>
          <p:cNvSpPr/>
          <p:nvPr/>
        </p:nvSpPr>
        <p:spPr>
          <a:xfrm>
            <a:off x="548640" y="3246120"/>
            <a:ext cx="11064240" cy="274320"/>
          </a:xfrm>
          <a:prstGeom prst="rect">
            <a:avLst/>
          </a:prstGeom>
          <a:noFill/>
          <a:ln/>
        </p:spPr>
        <p:txBody>
          <a:bodyPr wrap="square" lIns="0" tIns="0" rIns="0" bIns="0" rtlCol="0" anchor="ctr"/>
          <a:lstStyle/>
          <a:p>
            <a:pPr algn="ctr" indent="0" marL="0">
              <a:buNone/>
            </a:pPr>
            <a:r>
              <a:rPr lang="en-US" sz="1000" i="1" dirty="0">
                <a:solidFill>
                  <a:srgbClr val="8A95A5"/>
                </a:solidFill>
                <a:latin typeface="Segoe UI" pitchFamily="34" charset="0"/>
                <a:ea typeface="Segoe UI" pitchFamily="34" charset="-122"/>
                <a:cs typeface="Segoe UI" pitchFamily="34" charset="-120"/>
              </a:rPr>
              <a:t>bots feed the same book ↑</a:t>
            </a:r>
            <a:endParaRPr lang="en-US" sz="1000" dirty="0"/>
          </a:p>
        </p:txBody>
      </p:sp>
      <p:sp>
        <p:nvSpPr>
          <p:cNvPr id="30" name="Text 28"/>
          <p:cNvSpPr/>
          <p:nvPr/>
        </p:nvSpPr>
        <p:spPr>
          <a:xfrm>
            <a:off x="822960" y="4023360"/>
            <a:ext cx="10515600" cy="365760"/>
          </a:xfrm>
          <a:prstGeom prst="rect">
            <a:avLst/>
          </a:prstGeom>
          <a:noFill/>
          <a:ln/>
        </p:spPr>
        <p:txBody>
          <a:bodyPr wrap="square" lIns="0" tIns="0" rIns="0" bIns="0" rtlCol="0" anchor="ctr"/>
          <a:lstStyle/>
          <a:p>
            <a:pPr indent="0" marL="0">
              <a:buNone/>
            </a:pPr>
            <a:r>
              <a:rPr lang="en-US" sz="1400" b="1" spc="100" kern="0" dirty="0">
                <a:solidFill>
                  <a:srgbClr val="0E9F6E"/>
                </a:solidFill>
                <a:latin typeface="Segoe UI" pitchFamily="34" charset="0"/>
                <a:ea typeface="Segoe UI" pitchFamily="34" charset="-122"/>
                <a:cs typeface="Segoe UI" pitchFamily="34" charset="-120"/>
              </a:rPr>
              <a:t>After this deck you'll understand</a:t>
            </a:r>
            <a:endParaRPr lang="en-US" sz="1400" dirty="0"/>
          </a:p>
        </p:txBody>
      </p:sp>
      <p:sp>
        <p:nvSpPr>
          <p:cNvPr id="31" name="Text 29"/>
          <p:cNvSpPr/>
          <p:nvPr/>
        </p:nvSpPr>
        <p:spPr>
          <a:xfrm>
            <a:off x="822960" y="4480560"/>
            <a:ext cx="10515600" cy="128016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why the client holds no engine, no DB, no matcher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two data planes: REST to bootstrap, SignalR to stay live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how a page is wired — MVVM, DI, Shell nav, one hub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screens: Market, Trade, Portfolio, the mood pane</a:t>
            </a:r>
            <a:endParaRPr lang="en-US" sz="1400" dirty="0"/>
          </a:p>
        </p:txBody>
      </p:sp>
      <p:sp>
        <p:nvSpPr>
          <p:cNvPr id="32" name="Shape 30"/>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33" name="Text 31"/>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34" name="Shape 32"/>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36" name="Shape 34"/>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8" name="Shape 36"/>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40" name="Shape 38"/>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41" name="Text 39"/>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42" name="Shape 40"/>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43" name="Text 41"/>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44" name="Shape 42"/>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5" name="Text 43"/>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SHAPE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A thin skin: no engine, no database, no matching</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6279A6"/>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3</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assemblies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Client · Shared · Server</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6279A6"/>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2</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data planes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REST out · one SignalR hub in</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6279A6"/>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0</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in-process engine</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every Api*/SignalR* is a proxy</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6279A6"/>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8</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Shell routes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Login…Trade, no flyout chrome</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Presentation shell only</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Client = Views (XAML) + ViewModels + proxy services.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Shared = Models + interfaces, the same types on both ends.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Reads go out over HTTP; live state arrives over one hub.</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Even IDataBaseService is now an HTTP wrapper — no local DB.</a:t>
            </a:r>
            <a:endParaRPr lang="en-US" sz="1400" dirty="0"/>
          </a:p>
        </p:txBody>
      </p:sp>
      <p:sp>
        <p:nvSpPr>
          <p:cNvPr id="27" name="Text 25"/>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TFMs: client head net9.0-windows; Shared net9.0 — wire DTOs are literally the same compiled types</a:t>
            </a:r>
            <a:endParaRPr lang="en-US" sz="1000" dirty="0"/>
          </a:p>
        </p:txBody>
      </p:sp>
      <p:sp>
        <p:nvSpPr>
          <p:cNvPr id="28" name="Shape 26"/>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9" name="Text 27"/>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30" name="Shape 28"/>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32" name="Shape 30"/>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4" name="Shape 32"/>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6" name="Shape 34"/>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8" name="Shape 36"/>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40" name="Shape 38"/>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1" name="Text 39"/>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HOW A PAGE IS WIRED</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DI builds a page; Shell navigates to it programmatically</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MauiProgram.CreateMauiApp</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one composition root · all DI</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Shell route → transient Page + VM</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ctor-injects the whole VM graph</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OnAppearing → InitializeAsync</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loads data, not the constructor</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OnDisappearing → Cleanup + Dispose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cascades to child VMs</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MVVM, uniform everywhere</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Pages + VMs are transient; shared-state services are singletons.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Composite VMs own child VMs (chart, book, ticket) as properties.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CommunityToolkit source-gens [ObservableProperty] / [RelayCommand].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Transient VMs must Dispose singleton subscriptions — or leak.</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AppShell is flat, FlyoutBehavior=Disabled; all GoToAsync marshalled onto the UI thread</a:t>
            </a:r>
            <a:endParaRPr lang="en-US" sz="1000" dirty="0"/>
          </a:p>
        </p:txBody>
      </p:sp>
      <p:sp>
        <p:nvSpPr>
          <p:cNvPr id="23" name="Shape 21"/>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THE LIVE PLANE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One hub connection carries everything live</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engine event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quote · candle · order · portfolio</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server *Broadcaster → hub group</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quotes: · orders: · portfolio:</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MarketHubClient re-raises as .NET event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sole owner of the HubConnection</a:t>
            </a:r>
            <a:endParaRPr lang="en-US" sz="1300" dirty="0"/>
          </a:p>
        </p:txBody>
      </p:sp>
      <p:sp>
        <p:nvSpPr>
          <p:cNvPr id="17" name="Shape 15"/>
          <p:cNvSpPr/>
          <p:nvPr/>
        </p:nvSpPr>
        <p:spPr>
          <a:xfrm>
            <a:off x="2994660" y="4370832"/>
            <a:ext cx="0" cy="256032"/>
          </a:xfrm>
          <a:prstGeom prst="line">
            <a:avLst/>
          </a:prstGeom>
          <a:noFill/>
          <a:ln w="25400">
            <a:solidFill>
              <a:srgbClr val="8A95A5"/>
            </a:solidFill>
            <a:prstDash val="solid"/>
            <a:tailEnd type="triangle"/>
          </a:ln>
        </p:spPr>
      </p:sp>
      <p:sp>
        <p:nvSpPr>
          <p:cNvPr id="18" name="Shape 16"/>
          <p:cNvSpPr/>
          <p:nvPr/>
        </p:nvSpPr>
        <p:spPr>
          <a:xfrm>
            <a:off x="457200" y="4626864"/>
            <a:ext cx="5074920" cy="676656"/>
          </a:xfrm>
          <a:prstGeom prst="roundRect">
            <a:avLst>
              <a:gd name="adj" fmla="val 8108"/>
            </a:avLst>
          </a:prstGeom>
          <a:solidFill>
            <a:srgbClr val="44557A"/>
          </a:solidFill>
          <a:ln w="12700">
            <a:solidFill>
              <a:srgbClr val="44557A"/>
            </a:solidFill>
            <a:prstDash val="solid"/>
          </a:ln>
        </p:spPr>
      </p:sp>
      <p:sp>
        <p:nvSpPr>
          <p:cNvPr id="19" name="Text 17"/>
          <p:cNvSpPr/>
          <p:nvPr/>
        </p:nvSpPr>
        <p:spPr>
          <a:xfrm>
            <a:off x="640080" y="4626864"/>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SignalR*/Api* proxy → ViewModel</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VM marshals to the UI thread</a:t>
            </a:r>
            <a:endParaRPr lang="en-US" sz="1300" dirty="0"/>
          </a:p>
        </p:txBody>
      </p:sp>
      <p:sp>
        <p:nvSpPr>
          <p:cNvPr id="20" name="Text 18"/>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One socket, replayed groups</a:t>
            </a:r>
            <a:endParaRPr lang="en-US" sz="1400" dirty="0"/>
          </a:p>
        </p:txBody>
      </p:sp>
      <p:sp>
        <p:nvSpPr>
          <p:cNvPr id="21" name="Text 19"/>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Exactly one HubConnection to /hubs/market, auto-reconnect.</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Group families: per-listing quotes, per-user orders, telemetry.</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Tracked groups are replayed on every reconnect — no stale UI.</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Reference-counted joins: many VMs on one stock share one group.</a:t>
            </a:r>
            <a:endParaRPr lang="en-US" sz="1400" dirty="0"/>
          </a:p>
        </p:txBody>
      </p:sp>
      <p:sp>
        <p:nvSpPr>
          <p:cNvPr id="22" name="Text 20"/>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Auth over WebSocket via AccessTokenProvider, read fresh each (re)connect so rotated tokens survive</a:t>
            </a:r>
            <a:endParaRPr lang="en-US" sz="1000" dirty="0"/>
          </a:p>
        </p:txBody>
      </p:sp>
      <p:sp>
        <p:nvSpPr>
          <p:cNvPr id="23" name="Shape 21"/>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4" name="Text 22"/>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5" name="Shape 23"/>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7" name="Shape 25"/>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9" name="Shape 27"/>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0" name="Text 28"/>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1" name="Shape 29"/>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2" name="Text 30"/>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3" name="Shape 31"/>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4" name="Text 32"/>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5" name="Shape 33"/>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6" name="Text 34"/>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E1420"/>
        </a:solidFill>
      </p:bgPr>
    </p:bg>
    <p:spTree>
      <p:nvGrpSpPr>
        <p:cNvPr id="1" name=""/>
        <p:cNvGrpSpPr/>
        <p:nvPr/>
      </p:nvGrpSpPr>
      <p:grpSpPr>
        <a:xfrm>
          <a:off x="0" y="0"/>
          <a:ext cx="0" cy="0"/>
          <a:chOff x="0" y="0"/>
          <a:chExt cx="0" cy="0"/>
        </a:xfrm>
      </p:grpSpPr>
      <p:sp>
        <p:nvSpPr>
          <p:cNvPr id="2" name="Text 0"/>
          <p:cNvSpPr/>
          <p:nvPr/>
        </p:nvSpPr>
        <p:spPr>
          <a:xfrm>
            <a:off x="914400" y="2194560"/>
            <a:ext cx="10332720" cy="2468880"/>
          </a:xfrm>
          <a:prstGeom prst="rect">
            <a:avLst/>
          </a:prstGeom>
          <a:noFill/>
          <a:ln/>
        </p:spPr>
        <p:txBody>
          <a:bodyPr wrap="square" rtlCol="0" anchor="ctr"/>
          <a:lstStyle/>
          <a:p>
            <a:pPr indent="0" marL="0">
              <a:lnSpc>
                <a:spcPct val="105000"/>
              </a:lnSpc>
              <a:buNone/>
            </a:pPr>
            <a:r>
              <a:rPr lang="en-US" sz="4000" b="1" dirty="0">
                <a:solidFill>
                  <a:srgbClr val="FFFFFF"/>
                </a:solidFill>
                <a:latin typeface="Segoe UI" pitchFamily="34" charset="0"/>
                <a:ea typeface="Segoe UI" pitchFamily="34" charset="-122"/>
                <a:cs typeface="Segoe UI" pitchFamily="34" charset="-120"/>
              </a:rPr>
              <a:t>HTTP bootstraps a screen. SignalR keeps it live.</a:t>
            </a:r>
            <a:endParaRPr lang="en-US" sz="4000" dirty="0"/>
          </a:p>
        </p:txBody>
      </p:sp>
      <p:sp>
        <p:nvSpPr>
          <p:cNvPr id="3" name="Text 1"/>
          <p:cNvSpPr/>
          <p:nvPr/>
        </p:nvSpPr>
        <p:spPr>
          <a:xfrm>
            <a:off x="960120" y="4663440"/>
            <a:ext cx="10058400" cy="822960"/>
          </a:xfrm>
          <a:prstGeom prst="rect">
            <a:avLst/>
          </a:prstGeom>
          <a:noFill/>
          <a:ln/>
        </p:spPr>
        <p:txBody>
          <a:bodyPr wrap="square" rtlCol="0" anchor="ctr"/>
          <a:lstStyle/>
          <a:p>
            <a:pPr indent="0" marL="0">
              <a:buNone/>
            </a:pPr>
            <a:r>
              <a:rPr lang="en-US" sz="1800" dirty="0">
                <a:solidFill>
                  <a:srgbClr val="F5B942"/>
                </a:solidFill>
                <a:latin typeface="Segoe UI" pitchFamily="34" charset="0"/>
                <a:ea typeface="Segoe UI" pitchFamily="34" charset="-122"/>
                <a:cs typeface="Segoe UI" pitchFamily="34" charset="-120"/>
              </a:rPr>
              <a:t>Push cost scales with change-rate; poll cost scales with screens × interval — so prices push, mutations POST.</a:t>
            </a:r>
            <a:endParaRPr 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SCREEN · MARKET</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Market is a live browse-and-search over every listing</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SubscribeAllAsync — USD + EUR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warm the LiveQuote cache</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Poll() → MarketRow (in place)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Move/Insert/Remove, never Clear+Add</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push OnQuoteUpdated + 1s fallback</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sub-second sweep · idle stocks still tick</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What's on the page</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Tabs: USD / EUR / Watchlist (spans both currencies).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Sortable, searchable, paginated all-stocks table.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Starred watchlist card with drag-reorder, own row cache.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Top Gainers / Losers / Most-Active, off-thread snapshots.</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Rows update in place to avoid CollectionView flicker; polling torn down on page-leave</a:t>
            </a:r>
            <a:endParaRPr lang="en-US" sz="1000" dirty="0"/>
          </a:p>
        </p:txBody>
      </p:sp>
      <p:sp>
        <p:nvSpPr>
          <p:cNvPr id="20" name="Shape 18"/>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SCREEN · TRADE</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Trade is the dense screen — one composite page</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875538"/>
          </a:xfrm>
          <a:prstGeom prst="roundRect">
            <a:avLst>
              <a:gd name="adj" fmla="val 6266"/>
            </a:avLst>
          </a:prstGeom>
          <a:solidFill>
            <a:srgbClr val="FFFFFF"/>
          </a:solidFill>
          <a:ln w="12700">
            <a:solidFill>
              <a:srgbClr val="E2E7EF"/>
            </a:solidFill>
            <a:prstDash val="solid"/>
          </a:ln>
        </p:spPr>
      </p:sp>
      <p:sp>
        <p:nvSpPr>
          <p:cNvPr id="10" name="Shape 8"/>
          <p:cNvSpPr/>
          <p:nvPr/>
        </p:nvSpPr>
        <p:spPr>
          <a:xfrm>
            <a:off x="457200" y="1828800"/>
            <a:ext cx="91440" cy="875538"/>
          </a:xfrm>
          <a:prstGeom prst="rect">
            <a:avLst/>
          </a:prstGeom>
          <a:solidFill>
            <a:srgbClr val="F5B942"/>
          </a:solidFill>
          <a:ln/>
        </p:spPr>
      </p:sp>
      <p:sp>
        <p:nvSpPr>
          <p:cNvPr id="11" name="Text 9"/>
          <p:cNvSpPr/>
          <p:nvPr/>
        </p:nvSpPr>
        <p:spPr>
          <a:xfrm>
            <a:off x="713232" y="1828800"/>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6</a:t>
            </a:r>
            <a:endParaRPr lang="en-US" sz="2500" dirty="0"/>
          </a:p>
        </p:txBody>
      </p:sp>
      <p:sp>
        <p:nvSpPr>
          <p:cNvPr id="12" name="Text 10"/>
          <p:cNvSpPr/>
          <p:nvPr/>
        </p:nvSpPr>
        <p:spPr>
          <a:xfrm>
            <a:off x="2971800" y="1828800"/>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chart types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candles · line · Heikin-Ashi · …</a:t>
            </a:r>
            <a:endParaRPr lang="en-US" sz="1300" dirty="0"/>
          </a:p>
        </p:txBody>
      </p:sp>
      <p:sp>
        <p:nvSpPr>
          <p:cNvPr id="13" name="Shape 11"/>
          <p:cNvSpPr/>
          <p:nvPr/>
        </p:nvSpPr>
        <p:spPr>
          <a:xfrm>
            <a:off x="457200" y="2923794"/>
            <a:ext cx="5074920" cy="875538"/>
          </a:xfrm>
          <a:prstGeom prst="roundRect">
            <a:avLst>
              <a:gd name="adj" fmla="val 6266"/>
            </a:avLst>
          </a:prstGeom>
          <a:solidFill>
            <a:srgbClr val="FFFFFF"/>
          </a:solidFill>
          <a:ln w="12700">
            <a:solidFill>
              <a:srgbClr val="E2E7EF"/>
            </a:solidFill>
            <a:prstDash val="solid"/>
          </a:ln>
        </p:spPr>
      </p:sp>
      <p:sp>
        <p:nvSpPr>
          <p:cNvPr id="14" name="Shape 12"/>
          <p:cNvSpPr/>
          <p:nvPr/>
        </p:nvSpPr>
        <p:spPr>
          <a:xfrm>
            <a:off x="457200" y="2923794"/>
            <a:ext cx="91440" cy="875538"/>
          </a:xfrm>
          <a:prstGeom prst="rect">
            <a:avLst/>
          </a:prstGeom>
          <a:solidFill>
            <a:srgbClr val="F5B942"/>
          </a:solidFill>
          <a:ln/>
        </p:spPr>
      </p:sp>
      <p:sp>
        <p:nvSpPr>
          <p:cNvPr id="15" name="Text 13"/>
          <p:cNvSpPr/>
          <p:nvPr/>
        </p:nvSpPr>
        <p:spPr>
          <a:xfrm>
            <a:off x="713232" y="2923794"/>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5</a:t>
            </a:r>
            <a:endParaRPr lang="en-US" sz="2500" dirty="0"/>
          </a:p>
        </p:txBody>
      </p:sp>
      <p:sp>
        <p:nvSpPr>
          <p:cNvPr id="16" name="Text 14"/>
          <p:cNvSpPr/>
          <p:nvPr/>
        </p:nvSpPr>
        <p:spPr>
          <a:xfrm>
            <a:off x="2971800" y="2923794"/>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drawing tools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persisted in (time, price) space</a:t>
            </a:r>
            <a:endParaRPr lang="en-US" sz="1300" dirty="0"/>
          </a:p>
        </p:txBody>
      </p:sp>
      <p:sp>
        <p:nvSpPr>
          <p:cNvPr id="17" name="Shape 15"/>
          <p:cNvSpPr/>
          <p:nvPr/>
        </p:nvSpPr>
        <p:spPr>
          <a:xfrm>
            <a:off x="457200" y="4018788"/>
            <a:ext cx="5074920" cy="875538"/>
          </a:xfrm>
          <a:prstGeom prst="roundRect">
            <a:avLst>
              <a:gd name="adj" fmla="val 6266"/>
            </a:avLst>
          </a:prstGeom>
          <a:solidFill>
            <a:srgbClr val="FFFFFF"/>
          </a:solidFill>
          <a:ln w="12700">
            <a:solidFill>
              <a:srgbClr val="E2E7EF"/>
            </a:solidFill>
            <a:prstDash val="solid"/>
          </a:ln>
        </p:spPr>
      </p:sp>
      <p:sp>
        <p:nvSpPr>
          <p:cNvPr id="18" name="Shape 16"/>
          <p:cNvSpPr/>
          <p:nvPr/>
        </p:nvSpPr>
        <p:spPr>
          <a:xfrm>
            <a:off x="457200" y="4018788"/>
            <a:ext cx="91440" cy="875538"/>
          </a:xfrm>
          <a:prstGeom prst="rect">
            <a:avLst/>
          </a:prstGeom>
          <a:solidFill>
            <a:srgbClr val="F5B942"/>
          </a:solidFill>
          <a:ln/>
        </p:spPr>
      </p:sp>
      <p:sp>
        <p:nvSpPr>
          <p:cNvPr id="19" name="Text 17"/>
          <p:cNvSpPr/>
          <p:nvPr/>
        </p:nvSpPr>
        <p:spPr>
          <a:xfrm>
            <a:off x="713232" y="4018788"/>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4</a:t>
            </a:r>
            <a:endParaRPr lang="en-US" sz="2500" dirty="0"/>
          </a:p>
        </p:txBody>
      </p:sp>
      <p:sp>
        <p:nvSpPr>
          <p:cNvPr id="20" name="Text 18"/>
          <p:cNvSpPr/>
          <p:nvPr/>
        </p:nvSpPr>
        <p:spPr>
          <a:xfrm>
            <a:off x="2971800" y="4018788"/>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table tabs</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orders · history · tape · positions</a:t>
            </a:r>
            <a:endParaRPr lang="en-US" sz="1300" dirty="0"/>
          </a:p>
        </p:txBody>
      </p:sp>
      <p:sp>
        <p:nvSpPr>
          <p:cNvPr id="21" name="Shape 19"/>
          <p:cNvSpPr/>
          <p:nvPr/>
        </p:nvSpPr>
        <p:spPr>
          <a:xfrm>
            <a:off x="457200" y="5113782"/>
            <a:ext cx="5074920" cy="875538"/>
          </a:xfrm>
          <a:prstGeom prst="roundRect">
            <a:avLst>
              <a:gd name="adj" fmla="val 6266"/>
            </a:avLst>
          </a:prstGeom>
          <a:solidFill>
            <a:srgbClr val="FFFFFF"/>
          </a:solidFill>
          <a:ln w="12700">
            <a:solidFill>
              <a:srgbClr val="E2E7EF"/>
            </a:solidFill>
            <a:prstDash val="solid"/>
          </a:ln>
        </p:spPr>
      </p:sp>
      <p:sp>
        <p:nvSpPr>
          <p:cNvPr id="22" name="Shape 20"/>
          <p:cNvSpPr/>
          <p:nvPr/>
        </p:nvSpPr>
        <p:spPr>
          <a:xfrm>
            <a:off x="457200" y="5113782"/>
            <a:ext cx="91440" cy="875538"/>
          </a:xfrm>
          <a:prstGeom prst="rect">
            <a:avLst/>
          </a:prstGeom>
          <a:solidFill>
            <a:srgbClr val="F5B942"/>
          </a:solidFill>
          <a:ln/>
        </p:spPr>
      </p:sp>
      <p:sp>
        <p:nvSpPr>
          <p:cNvPr id="23" name="Text 21"/>
          <p:cNvSpPr/>
          <p:nvPr/>
        </p:nvSpPr>
        <p:spPr>
          <a:xfrm>
            <a:off x="713232" y="5113782"/>
            <a:ext cx="2286000" cy="875538"/>
          </a:xfrm>
          <a:prstGeom prst="rect">
            <a:avLst/>
          </a:prstGeom>
          <a:noFill/>
          <a:ln/>
        </p:spPr>
        <p:txBody>
          <a:bodyPr wrap="square" lIns="0" tIns="0" rIns="0" bIns="0" rtlCol="0" anchor="ctr"/>
          <a:lstStyle/>
          <a:p>
            <a:pPr indent="0" marL="0">
              <a:buNone/>
            </a:pPr>
            <a:r>
              <a:rPr lang="en-US" sz="2500" b="1" dirty="0">
                <a:solidFill>
                  <a:srgbClr val="16202E"/>
                </a:solidFill>
                <a:latin typeface="Segoe UI" pitchFamily="34" charset="0"/>
                <a:ea typeface="Segoe UI" pitchFamily="34" charset="-122"/>
                <a:cs typeface="Segoe UI" pitchFamily="34" charset="-120"/>
              </a:rPr>
              <a:t>70/30</a:t>
            </a:r>
            <a:endParaRPr lang="en-US" sz="2500" dirty="0"/>
          </a:p>
        </p:txBody>
      </p:sp>
      <p:sp>
        <p:nvSpPr>
          <p:cNvPr id="24" name="Text 22"/>
          <p:cNvSpPr/>
          <p:nvPr/>
        </p:nvSpPr>
        <p:spPr>
          <a:xfrm>
            <a:off x="2971800" y="5113782"/>
            <a:ext cx="2377440" cy="875538"/>
          </a:xfrm>
          <a:prstGeom prst="rect">
            <a:avLst/>
          </a:prstGeom>
          <a:noFill/>
          <a:ln/>
        </p:spPr>
        <p:txBody>
          <a:bodyPr wrap="square" lIns="0" tIns="0" rIns="0" bIns="0" rtlCol="0" anchor="ctr"/>
          <a:lstStyle/>
          <a:p>
            <a:pPr indent="0" marL="0">
              <a:buNone/>
            </a:pPr>
            <a:r>
              <a:rPr lang="en-US" sz="1300" b="1" dirty="0">
                <a:solidFill>
                  <a:srgbClr val="16202E"/>
                </a:solidFill>
                <a:latin typeface="Segoe UI" pitchFamily="34" charset="0"/>
                <a:ea typeface="Segoe UI" pitchFamily="34" charset="-122"/>
                <a:cs typeface="Segoe UI" pitchFamily="34" charset="-120"/>
              </a:rPr>
              <a:t>layout split</a:t>
            </a:r>
            <a:endParaRPr lang="en-US" sz="1300" dirty="0"/>
          </a:p>
          <a:p>
            <a:pPr indent="0" marL="0">
              <a:buNone/>
            </a:pPr>
            <a:r>
              <a:rPr lang="en-US" sz="1050" dirty="0">
                <a:solidFill>
                  <a:srgbClr val="8A95A5"/>
                </a:solidFill>
                <a:latin typeface="Segoe UI" pitchFamily="34" charset="0"/>
                <a:ea typeface="Segoe UI" pitchFamily="34" charset="-122"/>
                <a:cs typeface="Segoe UI" pitchFamily="34" charset="-120"/>
              </a:rPr>
              <a:t>chart+book+ticket / table card</a:t>
            </a:r>
            <a:endParaRPr lang="en-US" sz="1300" dirty="0"/>
          </a:p>
        </p:txBody>
      </p:sp>
      <p:sp>
        <p:nvSpPr>
          <p:cNvPr id="25" name="Text 23"/>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Three panels, one selected stock</a:t>
            </a:r>
            <a:endParaRPr lang="en-US" sz="1400" dirty="0"/>
          </a:p>
        </p:txBody>
      </p:sp>
      <p:sp>
        <p:nvSpPr>
          <p:cNvPr id="26" name="Text 24"/>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Symbol/price bar over a Picker, plus a watch-star.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Chart + order book + order-entry ticket up top.</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Segmented table card below keeps orders and fills live.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All panels share the stock via StockAwareViewModel.</a:t>
            </a:r>
            <a:endParaRPr lang="en-US" sz="1400" dirty="0"/>
          </a:p>
        </p:txBody>
      </p:sp>
      <p:sp>
        <p:nvSpPr>
          <p:cNvPr id="27" name="Text 25"/>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Chart-row height pinned in code-behind so inner ScrollViews don't inflate the star row</a:t>
            </a:r>
            <a:endParaRPr lang="en-US" sz="1000" dirty="0"/>
          </a:p>
        </p:txBody>
      </p:sp>
      <p:sp>
        <p:nvSpPr>
          <p:cNvPr id="28" name="Shape 26"/>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9" name="Text 27"/>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30" name="Shape 28"/>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32" name="Shape 30"/>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34" name="Shape 32"/>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35" name="Text 33"/>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36" name="Shape 34"/>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37" name="Text 35"/>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8" name="Shape 36"/>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9" name="Text 37"/>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40" name="Shape 38"/>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41" name="Text 39"/>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279A6"/>
          </a:solidFill>
          <a:ln/>
        </p:spPr>
      </p:sp>
      <p:sp>
        <p:nvSpPr>
          <p:cNvPr id="3" name="Shape 1"/>
          <p:cNvSpPr/>
          <p:nvPr/>
        </p:nvSpPr>
        <p:spPr>
          <a:xfrm>
            <a:off x="457200" y="365760"/>
            <a:ext cx="512064" cy="512064"/>
          </a:xfrm>
          <a:prstGeom prst="roundRect">
            <a:avLst>
              <a:gd name="adj" fmla="val 12500"/>
            </a:avLst>
          </a:prstGeom>
          <a:solidFill>
            <a:srgbClr val="6279A6"/>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SCREEN · TRADE PANELS</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Chart, book, and ticket each fetch their own slice</a:t>
            </a:r>
            <a:endParaRPr lang="en-US" sz="2500" dirty="0"/>
          </a:p>
        </p:txBody>
      </p:sp>
      <p:sp>
        <p:nvSpPr>
          <p:cNvPr id="8" name="Shape 6"/>
          <p:cNvSpPr/>
          <p:nvPr/>
        </p:nvSpPr>
        <p:spPr>
          <a:xfrm>
            <a:off x="475488" y="1664208"/>
            <a:ext cx="914400" cy="0"/>
          </a:xfrm>
          <a:prstGeom prst="line">
            <a:avLst/>
          </a:prstGeom>
          <a:noFill/>
          <a:ln w="38100">
            <a:solidFill>
              <a:srgbClr val="6279A6"/>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Chart — history + live forming bar</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HTTP candles, SignalR closes, synth tick</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Order book — cache-first depth</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SnapshotChanged, BookVersion-gated</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Ticket — validate then POST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IOrderEntryService · no local mutation</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6279A6"/>
                </a:solidFill>
                <a:latin typeface="Segoe UI" pitchFamily="34" charset="0"/>
                <a:ea typeface="Segoe UI" pitchFamily="34" charset="-122"/>
                <a:cs typeface="Segoe UI" pitchFamily="34" charset="-120"/>
              </a:rPr>
              <a:t>Read live, write and wait</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Chart overlays user data: order lines, fills, position line.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Book renders cumulative depth, auto-bucketed price steps.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Ticket: side × type, bracket builder, quantity slider.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Submit POSTs, then waits for the fill push — never optimistic.</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Client validation is a cheap pre-filter; the server is the authority and authors every toast</a:t>
            </a:r>
            <a:endParaRPr lang="en-US" sz="1000" dirty="0"/>
          </a:p>
        </p:txBody>
      </p:sp>
      <p:sp>
        <p:nvSpPr>
          <p:cNvPr id="20" name="Shape 18"/>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B942"/>
          </a:solidFill>
          <a:ln/>
        </p:spPr>
      </p:sp>
      <p:sp>
        <p:nvSpPr>
          <p:cNvPr id="3" name="Shape 1"/>
          <p:cNvSpPr/>
          <p:nvPr/>
        </p:nvSpPr>
        <p:spPr>
          <a:xfrm>
            <a:off x="457200" y="365760"/>
            <a:ext cx="512064" cy="512064"/>
          </a:xfrm>
          <a:prstGeom prst="roundRect">
            <a:avLst>
              <a:gd name="adj" fmla="val 12500"/>
            </a:avLst>
          </a:prstGeom>
          <a:solidFill>
            <a:srgbClr val="F5B942"/>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SCREEN · MARKET MOOD</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The Fear/Greed pane seeds history, then polls forward</a:t>
            </a:r>
            <a:endParaRPr lang="en-US" sz="2500" dirty="0"/>
          </a:p>
        </p:txBody>
      </p:sp>
      <p:sp>
        <p:nvSpPr>
          <p:cNvPr id="8" name="Shape 6"/>
          <p:cNvSpPr/>
          <p:nvPr/>
        </p:nvSpPr>
        <p:spPr>
          <a:xfrm>
            <a:off x="475488" y="1664208"/>
            <a:ext cx="914400" cy="0"/>
          </a:xfrm>
          <a:prstGeom prst="line">
            <a:avLst/>
          </a:prstGeom>
          <a:noFill/>
          <a:ln w="38100">
            <a:solidFill>
              <a:srgbClr val="F5B942"/>
            </a:solidFill>
            <a:prstDash val="solid"/>
          </a:ln>
        </p:spPr>
      </p:sp>
      <p:sp>
        <p:nvSpPr>
          <p:cNvPr id="9" name="Shape 7"/>
          <p:cNvSpPr/>
          <p:nvPr/>
        </p:nvSpPr>
        <p:spPr>
          <a:xfrm>
            <a:off x="457200" y="1828800"/>
            <a:ext cx="5074920" cy="4160520"/>
          </a:xfrm>
          <a:prstGeom prst="roundRect">
            <a:avLst>
              <a:gd name="adj" fmla="val 1319"/>
            </a:avLst>
          </a:prstGeom>
          <a:solidFill>
            <a:srgbClr val="111C2B"/>
          </a:solidFill>
          <a:ln w="12700">
            <a:solidFill>
              <a:srgbClr val="233247"/>
            </a:solidFill>
            <a:prstDash val="solid"/>
          </a:ln>
        </p:spPr>
      </p:sp>
      <p:sp>
        <p:nvSpPr>
          <p:cNvPr id="10" name="Text 8"/>
          <p:cNvSpPr/>
          <p:nvPr/>
        </p:nvSpPr>
        <p:spPr>
          <a:xfrm>
            <a:off x="676656" y="1938528"/>
            <a:ext cx="4636008" cy="274320"/>
          </a:xfrm>
          <a:prstGeom prst="rect">
            <a:avLst/>
          </a:prstGeom>
          <a:noFill/>
          <a:ln/>
        </p:spPr>
        <p:txBody>
          <a:bodyPr wrap="square" lIns="0" tIns="0" rIns="0" bIns="0" rtlCol="0" anchor="ctr"/>
          <a:lstStyle/>
          <a:p>
            <a:pPr indent="0" marL="0">
              <a:buNone/>
            </a:pPr>
            <a:r>
              <a:rPr lang="en-US" sz="1000" b="1" spc="200" kern="0" dirty="0">
                <a:solidFill>
                  <a:srgbClr val="F5B942"/>
                </a:solidFill>
                <a:latin typeface="Consolas" pitchFamily="34" charset="0"/>
                <a:ea typeface="Consolas" pitchFamily="34" charset="-122"/>
                <a:cs typeface="Consolas" pitchFamily="34" charset="-120"/>
              </a:rPr>
              <a:t>MARKET MOOD · CHART SUB-PANE</a:t>
            </a:r>
            <a:endParaRPr lang="en-US" sz="1000" dirty="0"/>
          </a:p>
        </p:txBody>
      </p:sp>
      <p:sp>
        <p:nvSpPr>
          <p:cNvPr id="11" name="Text 9"/>
          <p:cNvSpPr/>
          <p:nvPr/>
        </p:nvSpPr>
        <p:spPr>
          <a:xfrm>
            <a:off x="713232" y="2286000"/>
            <a:ext cx="4562856" cy="3502152"/>
          </a:xfrm>
          <a:prstGeom prst="rect">
            <a:avLst/>
          </a:prstGeom>
          <a:noFill/>
          <a:ln/>
        </p:spPr>
        <p:txBody>
          <a:bodyPr wrap="square" lIns="0" tIns="0" rIns="0" bIns="0" rtlCol="0" anchor="t"/>
          <a:lstStyle/>
          <a:p>
            <a:pPr indent="0" marL="0">
              <a:lnSpc>
                <a:spcPct val="114000"/>
              </a:lnSpc>
              <a:buNone/>
            </a:pPr>
            <a:r>
              <a:rPr lang="en-US" sz="1250" dirty="0">
                <a:solidFill>
                  <a:srgbClr val="8FA3C0"/>
                </a:solidFill>
                <a:latin typeface="Consolas" pitchFamily="34" charset="0"/>
                <a:ea typeface="Consolas" pitchFamily="34" charset="-122"/>
                <a:cs typeface="Consolas" pitchFamily="34" charset="-120"/>
              </a:rPr>
              <a:t>// no server-side mood history exists</a:t>
            </a:r>
            <a:endParaRPr lang="en-US" sz="1250" dirty="0"/>
          </a:p>
          <a:p>
            <a:pPr indent="0" marL="0">
              <a:lnSpc>
                <a:spcPct val="114000"/>
              </a:lnSpc>
              <a:buNone/>
            </a:pPr>
            <a:r>
              <a:rPr lang="en-US" sz="1250" dirty="0">
                <a:solidFill>
                  <a:srgbClr val="9FE7C6"/>
                </a:solidFill>
                <a:latin typeface="Consolas" pitchFamily="34" charset="0"/>
                <a:ea typeface="Consolas" pitchFamily="34" charset="-122"/>
                <a:cs typeface="Consolas" pitchFamily="34" charset="-120"/>
              </a:rPr>
              <a:t>seed  &lt;- Candle.MarketMood  (F&amp;G, if stamped)</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else tanh(k*ln(close/EMA))  // faked</a:t>
            </a:r>
            <a:endParaRPr lang="en-US" sz="1250" dirty="0"/>
          </a:p>
          <a:p>
            <a:pPr indent="0" marL="0">
              <a:lnSpc>
                <a:spcPct val="114000"/>
              </a:lnSpc>
              <a:buNone/>
            </a:pP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loop  every 4s  (PeriodicTimer):</a:t>
            </a:r>
            <a:endParaRPr lang="en-US" sz="1250" dirty="0"/>
          </a:p>
          <a:p>
            <a:pPr indent="0" marL="0">
              <a:lnSpc>
                <a:spcPct val="114000"/>
              </a:lnSpc>
              <a:buNone/>
            </a:pPr>
            <a:r>
              <a:rPr lang="en-US" sz="1250" dirty="0">
                <a:solidFill>
                  <a:srgbClr val="F5B942"/>
                </a:solidFill>
                <a:latin typeface="Consolas" pitchFamily="34" charset="0"/>
                <a:ea typeface="Consolas" pitchFamily="34" charset="-122"/>
                <a:cs typeface="Consolas" pitchFamily="34" charset="-120"/>
              </a:rPr>
              <a:t>  GET /api/market/mood/{stockId}</a:t>
            </a:r>
            <a:endParaRPr lang="en-US" sz="1250" dirty="0"/>
          </a:p>
          <a:p>
            <a:pPr indent="0" marL="0">
              <a:lnSpc>
                <a:spcPct val="114000"/>
              </a:lnSpc>
              <a:buNone/>
            </a:pPr>
            <a:r>
              <a:rPr lang="en-US" sz="1250" dirty="0">
                <a:solidFill>
                  <a:srgbClr val="D8E0EC"/>
                </a:solidFill>
                <a:latin typeface="Consolas" pitchFamily="34" charset="0"/>
                <a:ea typeface="Consolas" pitchFamily="34" charset="-122"/>
                <a:cs typeface="Consolas" pitchFamily="34" charset="-120"/>
              </a:rPr>
              <a:t>  -&gt; accumulate up to 2000 samples</a:t>
            </a:r>
            <a:endParaRPr lang="en-US" sz="1250" dirty="0"/>
          </a:p>
          <a:p>
            <a:pPr indent="0" marL="0">
              <a:lnSpc>
                <a:spcPct val="114000"/>
              </a:lnSpc>
              <a:buNone/>
            </a:pPr>
            <a:r>
              <a:rPr lang="en-US" sz="1250" dirty="0">
                <a:solidFill>
                  <a:srgbClr val="F5A3A9"/>
                </a:solidFill>
                <a:latin typeface="Consolas" pitchFamily="34" charset="0"/>
                <a:ea typeface="Consolas" pitchFamily="34" charset="-122"/>
                <a:cs typeface="Consolas" pitchFamily="34" charset="-120"/>
              </a:rPr>
              <a:t>  null on fault -&gt; pane stalls, never throws</a:t>
            </a:r>
            <a:endParaRPr lang="en-US" sz="1250" dirty="0"/>
          </a:p>
        </p:txBody>
      </p:sp>
      <p:sp>
        <p:nvSpPr>
          <p:cNvPr id="12" name="Text 10"/>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F5B942"/>
                </a:solidFill>
                <a:latin typeface="Segoe UI" pitchFamily="34" charset="0"/>
                <a:ea typeface="Segoe UI" pitchFamily="34" charset="-122"/>
                <a:cs typeface="Segoe UI" pitchFamily="34" charset="-120"/>
              </a:rPr>
              <a:t>A believable mood line</a:t>
            </a:r>
            <a:endParaRPr lang="en-US" sz="1400" dirty="0"/>
          </a:p>
        </p:txBody>
      </p:sp>
      <p:sp>
        <p:nvSpPr>
          <p:cNvPr id="13" name="Text 11"/>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Toggle ShowMoodPane; poll restarts on stock change.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Back-history seeded from loaded candles' stamped mood.</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Missing stamps fall back to a momentum stand-in, marked fake.</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The client face of the server's MarketMoodService.</a:t>
            </a:r>
            <a:endParaRPr lang="en-US" sz="1400" dirty="0"/>
          </a:p>
        </p:txBody>
      </p:sp>
      <p:sp>
        <p:nvSpPr>
          <p:cNvPr id="14" name="Text 12"/>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See BOT_MECHANICS.md §2.10 for how the composite Fear/Greed score is computed server-side</a:t>
            </a:r>
            <a:endParaRPr lang="en-US" sz="1000" dirty="0"/>
          </a:p>
        </p:txBody>
      </p:sp>
      <p:sp>
        <p:nvSpPr>
          <p:cNvPr id="15" name="Shape 13"/>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16" name="Text 14"/>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17" name="Shape 15"/>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18" name="Text 16"/>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19" name="Shape 17"/>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0" name="Text 18"/>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1" name="Shape 19"/>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2" name="Text 20"/>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3" name="Shape 21"/>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4" name="Text 22"/>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25" name="Shape 23"/>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26" name="Text 24"/>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27" name="Shape 25"/>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28" name="Text 26"/>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6C784"/>
          </a:solidFill>
          <a:ln/>
        </p:spPr>
      </p:sp>
      <p:sp>
        <p:nvSpPr>
          <p:cNvPr id="3" name="Shape 1"/>
          <p:cNvSpPr/>
          <p:nvPr/>
        </p:nvSpPr>
        <p:spPr>
          <a:xfrm>
            <a:off x="457200" y="365760"/>
            <a:ext cx="512064" cy="512064"/>
          </a:xfrm>
          <a:prstGeom prst="roundRect">
            <a:avLst>
              <a:gd name="adj" fmla="val 12500"/>
            </a:avLst>
          </a:prstGeom>
          <a:solidFill>
            <a:srgbClr val="16C784"/>
          </a:solidFill>
          <a:ln/>
        </p:spPr>
      </p:sp>
      <p:sp>
        <p:nvSpPr>
          <p:cNvPr id="4" name="Text 2"/>
          <p:cNvSpPr/>
          <p:nvPr/>
        </p:nvSpPr>
        <p:spPr>
          <a:xfrm>
            <a:off x="457200" y="365760"/>
            <a:ext cx="512064" cy="512064"/>
          </a:xfrm>
          <a:prstGeom prst="rect">
            <a:avLst/>
          </a:prstGeom>
          <a:noFill/>
          <a:ln/>
        </p:spPr>
        <p:txBody>
          <a:bodyPr wrap="square" rtlCol="0" anchor="ctr"/>
          <a:lstStyle/>
          <a:p>
            <a:pPr algn="ctr" indent="0" marL="0">
              <a:buNone/>
            </a:pPr>
            <a:r>
              <a:rPr lang="en-US" sz="1800" b="1" dirty="0">
                <a:solidFill>
                  <a:srgbClr val="0E1420"/>
                </a:solidFill>
                <a:latin typeface="Segoe UI" pitchFamily="34" charset="0"/>
                <a:ea typeface="Segoe UI" pitchFamily="34" charset="-122"/>
                <a:cs typeface="Segoe UI" pitchFamily="34" charset="-120"/>
              </a:rPr>
              <a:t>07</a:t>
            </a:r>
            <a:endParaRPr lang="en-US" sz="1800" dirty="0"/>
          </a:p>
        </p:txBody>
      </p:sp>
      <p:sp>
        <p:nvSpPr>
          <p:cNvPr id="5" name="Text 3"/>
          <p:cNvSpPr/>
          <p:nvPr/>
        </p:nvSpPr>
        <p:spPr>
          <a:xfrm>
            <a:off x="1097280" y="365760"/>
            <a:ext cx="8503920" cy="512064"/>
          </a:xfrm>
          <a:prstGeom prst="rect">
            <a:avLst/>
          </a:prstGeom>
          <a:noFill/>
          <a:ln/>
        </p:spPr>
        <p:txBody>
          <a:bodyPr wrap="square" lIns="0" tIns="0" rIns="0" bIns="0" rtlCol="0" anchor="ctr"/>
          <a:lstStyle/>
          <a:p>
            <a:pPr indent="0" marL="0">
              <a:buNone/>
            </a:pPr>
            <a:r>
              <a:rPr lang="en-US" sz="1100" b="1" spc="300" kern="0" dirty="0">
                <a:solidFill>
                  <a:srgbClr val="8A95A5"/>
                </a:solidFill>
                <a:latin typeface="Segoe UI" pitchFamily="34" charset="0"/>
                <a:ea typeface="Segoe UI" pitchFamily="34" charset="-122"/>
                <a:cs typeface="Segoe UI" pitchFamily="34" charset="-120"/>
              </a:rPr>
              <a:t>SCREEN · PORTFOLIO</a:t>
            </a:r>
            <a:endParaRPr lang="en-US" sz="1100" dirty="0"/>
          </a:p>
        </p:txBody>
      </p:sp>
      <p:sp>
        <p:nvSpPr>
          <p:cNvPr id="6" name="Text 4"/>
          <p:cNvSpPr/>
          <p:nvPr/>
        </p:nvSpPr>
        <p:spPr>
          <a:xfrm>
            <a:off x="10637215" y="365760"/>
            <a:ext cx="1097280" cy="512064"/>
          </a:xfrm>
          <a:prstGeom prst="rect">
            <a:avLst/>
          </a:prstGeom>
          <a:noFill/>
          <a:ln/>
        </p:spPr>
        <p:txBody>
          <a:bodyPr wrap="square" lIns="0" tIns="0" rIns="0" bIns="0" rtlCol="0" anchor="ctr"/>
          <a:lstStyle/>
          <a:p>
            <a:pPr algn="r" indent="0" marL="0">
              <a:buNone/>
            </a:pPr>
            <a:r>
              <a:rPr lang="en-US" sz="1100" b="1" dirty="0">
                <a:solidFill>
                  <a:srgbClr val="B9C2CE"/>
                </a:solidFill>
                <a:latin typeface="Segoe UI" pitchFamily="34" charset="0"/>
                <a:ea typeface="Segoe UI" pitchFamily="34" charset="-122"/>
                <a:cs typeface="Segoe UI" pitchFamily="34" charset="-120"/>
              </a:rPr>
              <a:t>7 / 7</a:t>
            </a:r>
            <a:endParaRPr lang="en-US" sz="1100" dirty="0"/>
          </a:p>
        </p:txBody>
      </p:sp>
      <p:sp>
        <p:nvSpPr>
          <p:cNvPr id="7" name="Text 5"/>
          <p:cNvSpPr/>
          <p:nvPr/>
        </p:nvSpPr>
        <p:spPr>
          <a:xfrm>
            <a:off x="457200" y="914400"/>
            <a:ext cx="11247120" cy="822960"/>
          </a:xfrm>
          <a:prstGeom prst="rect">
            <a:avLst/>
          </a:prstGeom>
          <a:noFill/>
          <a:ln/>
        </p:spPr>
        <p:txBody>
          <a:bodyPr wrap="square" lIns="0" tIns="0" rIns="0" bIns="0" rtlCol="0" anchor="t"/>
          <a:lstStyle/>
          <a:p>
            <a:pPr indent="0" marL="0">
              <a:lnSpc>
                <a:spcPct val="98000"/>
              </a:lnSpc>
              <a:buNone/>
            </a:pPr>
            <a:r>
              <a:rPr lang="en-US" sz="2500" b="1" dirty="0">
                <a:solidFill>
                  <a:srgbClr val="16202E"/>
                </a:solidFill>
                <a:latin typeface="Segoe UI" pitchFamily="34" charset="0"/>
                <a:ea typeface="Segoe UI" pitchFamily="34" charset="-122"/>
                <a:cs typeface="Segoe UI" pitchFamily="34" charset="-120"/>
              </a:rPr>
              <a:t>Portfolio values holdings live in one base currency</a:t>
            </a:r>
            <a:endParaRPr lang="en-US" sz="2500" dirty="0"/>
          </a:p>
        </p:txBody>
      </p:sp>
      <p:sp>
        <p:nvSpPr>
          <p:cNvPr id="8" name="Shape 6"/>
          <p:cNvSpPr/>
          <p:nvPr/>
        </p:nvSpPr>
        <p:spPr>
          <a:xfrm>
            <a:off x="475488" y="1664208"/>
            <a:ext cx="914400" cy="0"/>
          </a:xfrm>
          <a:prstGeom prst="line">
            <a:avLst/>
          </a:prstGeom>
          <a:noFill/>
          <a:ln w="38100">
            <a:solidFill>
              <a:srgbClr val="16C784"/>
            </a:solidFill>
            <a:prstDash val="solid"/>
          </a:ln>
        </p:spPr>
      </p:sp>
      <p:sp>
        <p:nvSpPr>
          <p:cNvPr id="9" name="Shape 7"/>
          <p:cNvSpPr/>
          <p:nvPr/>
        </p:nvSpPr>
        <p:spPr>
          <a:xfrm>
            <a:off x="457200" y="1828800"/>
            <a:ext cx="5074920" cy="676656"/>
          </a:xfrm>
          <a:prstGeom prst="roundRect">
            <a:avLst>
              <a:gd name="adj" fmla="val 8108"/>
            </a:avLst>
          </a:prstGeom>
          <a:solidFill>
            <a:srgbClr val="44557A"/>
          </a:solidFill>
          <a:ln w="12700">
            <a:solidFill>
              <a:srgbClr val="44557A"/>
            </a:solidFill>
            <a:prstDash val="solid"/>
          </a:ln>
        </p:spPr>
      </p:sp>
      <p:sp>
        <p:nvSpPr>
          <p:cNvPr id="10" name="Text 8"/>
          <p:cNvSpPr/>
          <p:nvPr/>
        </p:nvSpPr>
        <p:spPr>
          <a:xfrm>
            <a:off x="640080" y="1828800"/>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funds + positions snapshot</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IUserPortfolioService</a:t>
            </a:r>
            <a:endParaRPr lang="en-US" sz="1300" dirty="0"/>
          </a:p>
        </p:txBody>
      </p:sp>
      <p:sp>
        <p:nvSpPr>
          <p:cNvPr id="11" name="Shape 9"/>
          <p:cNvSpPr/>
          <p:nvPr/>
        </p:nvSpPr>
        <p:spPr>
          <a:xfrm>
            <a:off x="2994660" y="2505456"/>
            <a:ext cx="0" cy="256032"/>
          </a:xfrm>
          <a:prstGeom prst="line">
            <a:avLst/>
          </a:prstGeom>
          <a:noFill/>
          <a:ln w="25400">
            <a:solidFill>
              <a:srgbClr val="8A95A5"/>
            </a:solidFill>
            <a:prstDash val="solid"/>
            <a:tailEnd type="triangle"/>
          </a:ln>
        </p:spPr>
      </p:sp>
      <p:sp>
        <p:nvSpPr>
          <p:cNvPr id="12" name="Shape 10"/>
          <p:cNvSpPr/>
          <p:nvPr/>
        </p:nvSpPr>
        <p:spPr>
          <a:xfrm>
            <a:off x="457200" y="2761488"/>
            <a:ext cx="5074920" cy="676656"/>
          </a:xfrm>
          <a:prstGeom prst="roundRect">
            <a:avLst>
              <a:gd name="adj" fmla="val 8108"/>
            </a:avLst>
          </a:prstGeom>
          <a:solidFill>
            <a:srgbClr val="44557A"/>
          </a:solidFill>
          <a:ln w="12700">
            <a:solidFill>
              <a:srgbClr val="44557A"/>
            </a:solidFill>
            <a:prstDash val="solid"/>
          </a:ln>
        </p:spPr>
      </p:sp>
      <p:sp>
        <p:nvSpPr>
          <p:cNvPr id="13" name="Text 11"/>
          <p:cNvSpPr/>
          <p:nvPr/>
        </p:nvSpPr>
        <p:spPr>
          <a:xfrm>
            <a:off x="640080" y="2761488"/>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value via live quotes + FX mid-rates</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walk cross-currency to base</a:t>
            </a:r>
            <a:endParaRPr lang="en-US" sz="1300" dirty="0"/>
          </a:p>
        </p:txBody>
      </p:sp>
      <p:sp>
        <p:nvSpPr>
          <p:cNvPr id="14" name="Shape 12"/>
          <p:cNvSpPr/>
          <p:nvPr/>
        </p:nvSpPr>
        <p:spPr>
          <a:xfrm>
            <a:off x="2994660" y="3438144"/>
            <a:ext cx="0" cy="256032"/>
          </a:xfrm>
          <a:prstGeom prst="line">
            <a:avLst/>
          </a:prstGeom>
          <a:noFill/>
          <a:ln w="25400">
            <a:solidFill>
              <a:srgbClr val="8A95A5"/>
            </a:solidFill>
            <a:prstDash val="solid"/>
            <a:tailEnd type="triangle"/>
          </a:ln>
        </p:spPr>
      </p:sp>
      <p:sp>
        <p:nvSpPr>
          <p:cNvPr id="15" name="Shape 13"/>
          <p:cNvSpPr/>
          <p:nvPr/>
        </p:nvSpPr>
        <p:spPr>
          <a:xfrm>
            <a:off x="457200" y="3694176"/>
            <a:ext cx="5074920" cy="676656"/>
          </a:xfrm>
          <a:prstGeom prst="roundRect">
            <a:avLst>
              <a:gd name="adj" fmla="val 8108"/>
            </a:avLst>
          </a:prstGeom>
          <a:solidFill>
            <a:srgbClr val="0E9F6E"/>
          </a:solidFill>
          <a:ln w="12700">
            <a:solidFill>
              <a:srgbClr val="0E9F6E"/>
            </a:solidFill>
            <a:prstDash val="solid"/>
          </a:ln>
        </p:spPr>
      </p:sp>
      <p:sp>
        <p:nvSpPr>
          <p:cNvPr id="16" name="Text 14"/>
          <p:cNvSpPr/>
          <p:nvPr/>
        </p:nvSpPr>
        <p:spPr>
          <a:xfrm>
            <a:off x="640080" y="3694176"/>
            <a:ext cx="4709160" cy="676656"/>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RefreshMetrics on every change</a:t>
            </a:r>
            <a:endParaRPr lang="en-US" sz="1300" dirty="0"/>
          </a:p>
          <a:p>
            <a:pPr algn="ctr" indent="0" marL="0">
              <a:buNone/>
            </a:pPr>
            <a:r>
              <a:rPr lang="en-US" sz="1050" dirty="0">
                <a:solidFill>
                  <a:srgbClr val="DCE5F2"/>
                </a:solidFill>
                <a:latin typeface="Segoe UI" pitchFamily="34" charset="0"/>
                <a:ea typeface="Segoe UI" pitchFamily="34" charset="-122"/>
                <a:cs typeface="Segoe UI" pitchFamily="34" charset="-120"/>
              </a:rPr>
              <a:t>SnapshotChanged · tape · session</a:t>
            </a:r>
            <a:endParaRPr lang="en-US" sz="1300" dirty="0"/>
          </a:p>
        </p:txBody>
      </p:sp>
      <p:sp>
        <p:nvSpPr>
          <p:cNvPr id="17" name="Text 15"/>
          <p:cNvSpPr/>
          <p:nvPr/>
        </p:nvSpPr>
        <p:spPr>
          <a:xfrm>
            <a:off x="5806440" y="1828800"/>
            <a:ext cx="5897880" cy="365760"/>
          </a:xfrm>
          <a:prstGeom prst="rect">
            <a:avLst/>
          </a:prstGeom>
          <a:noFill/>
          <a:ln/>
        </p:spPr>
        <p:txBody>
          <a:bodyPr wrap="square" lIns="0" tIns="0" rIns="0" bIns="0" rtlCol="0" anchor="ctr"/>
          <a:lstStyle/>
          <a:p>
            <a:pPr indent="0" marL="0">
              <a:buNone/>
            </a:pPr>
            <a:r>
              <a:rPr lang="en-US" sz="1400" b="1" spc="100" kern="0" dirty="0">
                <a:solidFill>
                  <a:srgbClr val="16C784"/>
                </a:solidFill>
                <a:latin typeface="Segoe UI" pitchFamily="34" charset="0"/>
                <a:ea typeface="Segoe UI" pitchFamily="34" charset="-122"/>
                <a:cs typeface="Segoe UI" pitchFamily="34" charset="-120"/>
              </a:rPr>
              <a:t>KPIs at a glance</a:t>
            </a:r>
            <a:endParaRPr lang="en-US" sz="1400" dirty="0"/>
          </a:p>
        </p:txBody>
      </p:sp>
      <p:sp>
        <p:nvSpPr>
          <p:cNvPr id="18" name="Text 16"/>
          <p:cNvSpPr/>
          <p:nvPr/>
        </p:nvSpPr>
        <p:spPr>
          <a:xfrm>
            <a:off x="5806440" y="2286000"/>
            <a:ext cx="5897880" cy="3703320"/>
          </a:xfrm>
          <a:prstGeom prst="rect">
            <a:avLst/>
          </a:prstGeom>
          <a:noFill/>
          <a:ln/>
        </p:spPr>
        <p:txBody>
          <a:bodyPr wrap="square" lIns="0" tIns="0" rIns="0" bIns="0" rtlCol="0" anchor="t"/>
          <a:lstStyle/>
          <a:p>
            <a:pPr marL="203200" indent="-203200">
              <a:lnSpc>
                <a:spcPct val="104000"/>
              </a:lnSpc>
              <a:buSzPct val="100000"/>
              <a:buChar char="•"/>
            </a:pPr>
            <a:r>
              <a:rPr lang="en-US" sz="1400" b="1" dirty="0">
                <a:solidFill>
                  <a:srgbClr val="3A4658"/>
                </a:solidFill>
                <a:latin typeface="Segoe UI" pitchFamily="34" charset="0"/>
                <a:ea typeface="Segoe UI" pitchFamily="34" charset="-122"/>
                <a:cs typeface="Segoe UI" pitchFamily="34" charset="-120"/>
              </a:rPr>
              <a:t>Total equity = cash + market value of holdings.</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Today's Δ vs session open; all-time realized + unrealized P&amp;L.</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Allocation pie: top-7 positions plus Other.</a:t>
            </a:r>
            <a:endParaRPr lang="en-US" sz="1400" dirty="0"/>
          </a:p>
          <a:p>
            <a:pPr marL="203200" indent="-203200">
              <a:lnSpc>
                <a:spcPct val="104000"/>
              </a:lnSpc>
              <a:spcBef>
                <a:spcPts val="1000"/>
              </a:spcBef>
              <a:buSzPct val="100000"/>
              <a:buChar char="•"/>
            </a:pPr>
            <a:r>
              <a:rPr lang="en-US" sz="1400" b="1" dirty="0">
                <a:solidFill>
                  <a:srgbClr val="3A4658"/>
                </a:solidFill>
                <a:latin typeface="Segoe UI" pitchFamily="34" charset="0"/>
                <a:ea typeface="Segoe UI" pitchFamily="34" charset="-122"/>
                <a:cs typeface="Segoe UI" pitchFamily="34" charset="-120"/>
              </a:rPr>
              <a:t>Six sub-VMs: currencies, holdings, orders, history, tape, funds.</a:t>
            </a:r>
            <a:endParaRPr lang="en-US" sz="1400" dirty="0"/>
          </a:p>
        </p:txBody>
      </p:sp>
      <p:sp>
        <p:nvSpPr>
          <p:cNvPr id="19" name="Text 17"/>
          <p:cNvSpPr/>
          <p:nvPr/>
        </p:nvSpPr>
        <p:spPr>
          <a:xfrm>
            <a:off x="457200" y="5989320"/>
            <a:ext cx="11247120" cy="274320"/>
          </a:xfrm>
          <a:prstGeom prst="rect">
            <a:avLst/>
          </a:prstGeom>
          <a:noFill/>
          <a:ln/>
        </p:spPr>
        <p:txBody>
          <a:bodyPr wrap="square" lIns="0" tIns="0" rIns="0" bIns="0" rtlCol="0" anchor="ctr"/>
          <a:lstStyle/>
          <a:p>
            <a:pPr indent="0" marL="0">
              <a:buNone/>
            </a:pPr>
            <a:r>
              <a:rPr lang="en-US" sz="1000" i="1" dirty="0">
                <a:solidFill>
                  <a:srgbClr val="8A95A5"/>
                </a:solidFill>
                <a:latin typeface="Segoe UI" pitchFamily="34" charset="0"/>
                <a:ea typeface="Segoe UI" pitchFamily="34" charset="-122"/>
                <a:cs typeface="Segoe UI" pitchFamily="34" charset="-120"/>
              </a:rPr>
              <a:t>Account page mirrors this: profile, base-currency picker, funds card, WAC realized-P&amp;L activity</a:t>
            </a:r>
            <a:endParaRPr lang="en-US" sz="1000" dirty="0"/>
          </a:p>
        </p:txBody>
      </p:sp>
      <p:sp>
        <p:nvSpPr>
          <p:cNvPr id="20" name="Shape 18"/>
          <p:cNvSpPr/>
          <p:nvPr/>
        </p:nvSpPr>
        <p:spPr>
          <a:xfrm>
            <a:off x="457200" y="6327648"/>
            <a:ext cx="1548340" cy="365760"/>
          </a:xfrm>
          <a:prstGeom prst="roundRect">
            <a:avLst>
              <a:gd name="adj" fmla="val 10000"/>
            </a:avLst>
          </a:prstGeom>
          <a:solidFill>
            <a:srgbClr val="F5B942"/>
          </a:solidFill>
          <a:ln w="12700">
            <a:solidFill>
              <a:srgbClr val="F5B942"/>
            </a:solidFill>
            <a:prstDash val="solid"/>
          </a:ln>
        </p:spPr>
      </p:sp>
      <p:sp>
        <p:nvSpPr>
          <p:cNvPr id="21" name="Text 19"/>
          <p:cNvSpPr/>
          <p:nvPr/>
        </p:nvSpPr>
        <p:spPr>
          <a:xfrm>
            <a:off x="457200" y="6327648"/>
            <a:ext cx="1548340" cy="365760"/>
          </a:xfrm>
          <a:prstGeom prst="rect">
            <a:avLst/>
          </a:prstGeom>
          <a:noFill/>
          <a:ln/>
        </p:spPr>
        <p:txBody>
          <a:bodyPr wrap="square" lIns="0" tIns="0" rIns="0" bIns="0" rtlCol="0" anchor="ctr"/>
          <a:lstStyle/>
          <a:p>
            <a:pPr algn="ctr" indent="0" marL="0">
              <a:buNone/>
            </a:pPr>
            <a:r>
              <a:rPr lang="en-US" sz="900" b="1" dirty="0">
                <a:solidFill>
                  <a:srgbClr val="0E1420"/>
                </a:solidFill>
                <a:latin typeface="Segoe UI" pitchFamily="34" charset="0"/>
                <a:ea typeface="Segoe UI" pitchFamily="34" charset="-122"/>
                <a:cs typeface="Segoe UI" pitchFamily="34" charset="-120"/>
              </a:rPr>
              <a:t>CLIENT</a:t>
            </a:r>
            <a:endParaRPr lang="en-US" sz="900" dirty="0"/>
          </a:p>
        </p:txBody>
      </p:sp>
      <p:sp>
        <p:nvSpPr>
          <p:cNvPr id="22" name="Shape 20"/>
          <p:cNvSpPr/>
          <p:nvPr/>
        </p:nvSpPr>
        <p:spPr>
          <a:xfrm>
            <a:off x="2078692" y="6327648"/>
            <a:ext cx="1548340" cy="365760"/>
          </a:xfrm>
          <a:prstGeom prst="roundRect">
            <a:avLst>
              <a:gd name="adj" fmla="val 10000"/>
            </a:avLst>
          </a:prstGeom>
          <a:solidFill>
            <a:srgbClr val="E2E7EF"/>
          </a:solidFill>
          <a:ln w="12700">
            <a:solidFill>
              <a:srgbClr val="E2E7EF"/>
            </a:solidFill>
            <a:prstDash val="solid"/>
          </a:ln>
        </p:spPr>
      </p:sp>
      <p:sp>
        <p:nvSpPr>
          <p:cNvPr id="23" name="Text 21"/>
          <p:cNvSpPr/>
          <p:nvPr/>
        </p:nvSpPr>
        <p:spPr>
          <a:xfrm>
            <a:off x="207869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API</a:t>
            </a:r>
            <a:endParaRPr lang="en-US" sz="900" dirty="0"/>
          </a:p>
        </p:txBody>
      </p:sp>
      <p:sp>
        <p:nvSpPr>
          <p:cNvPr id="24" name="Shape 22"/>
          <p:cNvSpPr/>
          <p:nvPr/>
        </p:nvSpPr>
        <p:spPr>
          <a:xfrm>
            <a:off x="3700185" y="6327648"/>
            <a:ext cx="1548340" cy="365760"/>
          </a:xfrm>
          <a:prstGeom prst="roundRect">
            <a:avLst>
              <a:gd name="adj" fmla="val 10000"/>
            </a:avLst>
          </a:prstGeom>
          <a:solidFill>
            <a:srgbClr val="E2E7EF"/>
          </a:solidFill>
          <a:ln w="12700">
            <a:solidFill>
              <a:srgbClr val="E2E7EF"/>
            </a:solidFill>
            <a:prstDash val="solid"/>
          </a:ln>
        </p:spPr>
      </p:sp>
      <p:sp>
        <p:nvSpPr>
          <p:cNvPr id="25" name="Text 23"/>
          <p:cNvSpPr/>
          <p:nvPr/>
        </p:nvSpPr>
        <p:spPr>
          <a:xfrm>
            <a:off x="370018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ENTRY</a:t>
            </a:r>
            <a:endParaRPr lang="en-US" sz="900" dirty="0"/>
          </a:p>
        </p:txBody>
      </p:sp>
      <p:sp>
        <p:nvSpPr>
          <p:cNvPr id="26" name="Shape 24"/>
          <p:cNvSpPr/>
          <p:nvPr/>
        </p:nvSpPr>
        <p:spPr>
          <a:xfrm>
            <a:off x="5321677" y="6327648"/>
            <a:ext cx="1548340" cy="365760"/>
          </a:xfrm>
          <a:prstGeom prst="roundRect">
            <a:avLst>
              <a:gd name="adj" fmla="val 10000"/>
            </a:avLst>
          </a:prstGeom>
          <a:solidFill>
            <a:srgbClr val="E2E7EF"/>
          </a:solidFill>
          <a:ln w="12700">
            <a:solidFill>
              <a:srgbClr val="E2E7EF"/>
            </a:solidFill>
            <a:prstDash val="solid"/>
          </a:ln>
        </p:spPr>
      </p:sp>
      <p:sp>
        <p:nvSpPr>
          <p:cNvPr id="27" name="Text 25"/>
          <p:cNvSpPr/>
          <p:nvPr/>
        </p:nvSpPr>
        <p:spPr>
          <a:xfrm>
            <a:off x="5321677"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EXEC</a:t>
            </a:r>
            <a:endParaRPr lang="en-US" sz="900" dirty="0"/>
          </a:p>
        </p:txBody>
      </p:sp>
      <p:sp>
        <p:nvSpPr>
          <p:cNvPr id="28" name="Shape 26"/>
          <p:cNvSpPr/>
          <p:nvPr/>
        </p:nvSpPr>
        <p:spPr>
          <a:xfrm>
            <a:off x="6943170" y="6327648"/>
            <a:ext cx="1548340" cy="365760"/>
          </a:xfrm>
          <a:prstGeom prst="roundRect">
            <a:avLst>
              <a:gd name="adj" fmla="val 10000"/>
            </a:avLst>
          </a:prstGeom>
          <a:solidFill>
            <a:srgbClr val="E2E7EF"/>
          </a:solidFill>
          <a:ln w="12700">
            <a:solidFill>
              <a:srgbClr val="E2E7EF"/>
            </a:solidFill>
            <a:prstDash val="solid"/>
          </a:ln>
        </p:spPr>
      </p:sp>
      <p:sp>
        <p:nvSpPr>
          <p:cNvPr id="29" name="Text 27"/>
          <p:cNvSpPr/>
          <p:nvPr/>
        </p:nvSpPr>
        <p:spPr>
          <a:xfrm>
            <a:off x="6943170"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MATCH</a:t>
            </a:r>
            <a:endParaRPr lang="en-US" sz="900" dirty="0"/>
          </a:p>
        </p:txBody>
      </p:sp>
      <p:sp>
        <p:nvSpPr>
          <p:cNvPr id="30" name="Shape 28"/>
          <p:cNvSpPr/>
          <p:nvPr/>
        </p:nvSpPr>
        <p:spPr>
          <a:xfrm>
            <a:off x="8564662" y="6327648"/>
            <a:ext cx="1548340" cy="365760"/>
          </a:xfrm>
          <a:prstGeom prst="roundRect">
            <a:avLst>
              <a:gd name="adj" fmla="val 10000"/>
            </a:avLst>
          </a:prstGeom>
          <a:solidFill>
            <a:srgbClr val="E2E7EF"/>
          </a:solidFill>
          <a:ln w="12700">
            <a:solidFill>
              <a:srgbClr val="E2E7EF"/>
            </a:solidFill>
            <a:prstDash val="solid"/>
          </a:ln>
        </p:spPr>
      </p:sp>
      <p:sp>
        <p:nvSpPr>
          <p:cNvPr id="31" name="Text 29"/>
          <p:cNvSpPr/>
          <p:nvPr/>
        </p:nvSpPr>
        <p:spPr>
          <a:xfrm>
            <a:off x="8564662"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SETTLE</a:t>
            </a:r>
            <a:endParaRPr lang="en-US" sz="900" dirty="0"/>
          </a:p>
        </p:txBody>
      </p:sp>
      <p:sp>
        <p:nvSpPr>
          <p:cNvPr id="32" name="Shape 30"/>
          <p:cNvSpPr/>
          <p:nvPr/>
        </p:nvSpPr>
        <p:spPr>
          <a:xfrm>
            <a:off x="10186155" y="6327648"/>
            <a:ext cx="1548340" cy="365760"/>
          </a:xfrm>
          <a:prstGeom prst="roundRect">
            <a:avLst>
              <a:gd name="adj" fmla="val 10000"/>
            </a:avLst>
          </a:prstGeom>
          <a:solidFill>
            <a:srgbClr val="E2E7EF"/>
          </a:solidFill>
          <a:ln w="12700">
            <a:solidFill>
              <a:srgbClr val="E2E7EF"/>
            </a:solidFill>
            <a:prstDash val="solid"/>
          </a:ln>
        </p:spPr>
      </p:sp>
      <p:sp>
        <p:nvSpPr>
          <p:cNvPr id="33" name="Text 31"/>
          <p:cNvSpPr/>
          <p:nvPr/>
        </p:nvSpPr>
        <p:spPr>
          <a:xfrm>
            <a:off x="10186155" y="6327648"/>
            <a:ext cx="1548340" cy="365760"/>
          </a:xfrm>
          <a:prstGeom prst="rect">
            <a:avLst/>
          </a:prstGeom>
          <a:noFill/>
          <a:ln/>
        </p:spPr>
        <p:txBody>
          <a:bodyPr wrap="square" lIns="0" tIns="0" rIns="0" bIns="0" rtlCol="0" anchor="ctr"/>
          <a:lstStyle/>
          <a:p>
            <a:pPr algn="ctr" indent="0" marL="0">
              <a:buNone/>
            </a:pPr>
            <a:r>
              <a:rPr lang="en-US" sz="900" dirty="0">
                <a:solidFill>
                  <a:srgbClr val="8A95A5"/>
                </a:solidFill>
                <a:latin typeface="Segoe UI" pitchFamily="34" charset="0"/>
                <a:ea typeface="Segoe UI" pitchFamily="34" charset="-122"/>
                <a:cs typeface="Segoe UI" pitchFamily="34" charset="-120"/>
              </a:rPr>
              <a:t>DB</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B942"/>
          </a:solidFill>
          <a:ln/>
        </p:spPr>
      </p:sp>
      <p:sp>
        <p:nvSpPr>
          <p:cNvPr id="3" name="Text 1"/>
          <p:cNvSpPr/>
          <p:nvPr/>
        </p:nvSpPr>
        <p:spPr>
          <a:xfrm>
            <a:off x="822960" y="1097280"/>
            <a:ext cx="10058400" cy="365760"/>
          </a:xfrm>
          <a:prstGeom prst="rect">
            <a:avLst/>
          </a:prstGeom>
          <a:noFill/>
          <a:ln/>
        </p:spPr>
        <p:txBody>
          <a:bodyPr wrap="square" rtlCol="0" anchor="ctr"/>
          <a:lstStyle/>
          <a:p>
            <a:pPr indent="0" marL="0">
              <a:buNone/>
            </a:pPr>
            <a:r>
              <a:rPr lang="en-US" sz="1300" b="1" spc="400" kern="0" dirty="0">
                <a:solidFill>
                  <a:srgbClr val="F5B942"/>
                </a:solidFill>
                <a:latin typeface="Segoe UI" pitchFamily="34" charset="0"/>
                <a:ea typeface="Segoe UI" pitchFamily="34" charset="-122"/>
                <a:cs typeface="Segoe UI" pitchFamily="34" charset="-120"/>
              </a:rPr>
              <a:t>TAKEAWAYS</a:t>
            </a:r>
            <a:endParaRPr lang="en-US" sz="1300" dirty="0"/>
          </a:p>
        </p:txBody>
      </p:sp>
      <p:sp>
        <p:nvSpPr>
          <p:cNvPr id="4" name="Text 2"/>
          <p:cNvSpPr/>
          <p:nvPr/>
        </p:nvSpPr>
        <p:spPr>
          <a:xfrm>
            <a:off x="868680" y="1691640"/>
            <a:ext cx="10424160" cy="3017520"/>
          </a:xfrm>
          <a:prstGeom prst="rect">
            <a:avLst/>
          </a:prstGeom>
          <a:noFill/>
          <a:ln/>
        </p:spPr>
        <p:txBody>
          <a:bodyPr wrap="square" rtlCol="0" anchor="t"/>
          <a:lstStyle/>
          <a:p>
            <a:pPr marL="228600" indent="-228600">
              <a:lnSpc>
                <a:spcPct val="105000"/>
              </a:lnSpc>
              <a:buSzPct val="100000"/>
              <a:buChar char="•"/>
            </a:pPr>
            <a:r>
              <a:rPr lang="en-US" sz="2000" b="1" dirty="0">
                <a:solidFill>
                  <a:srgbClr val="E6ECF4"/>
                </a:solidFill>
                <a:latin typeface="Segoe UI" pitchFamily="34" charset="0"/>
                <a:ea typeface="Segoe UI" pitchFamily="34" charset="-122"/>
                <a:cs typeface="Segoe UI" pitchFamily="34" charset="-120"/>
              </a:rPr>
              <a:t>The client is a thin skin — no engine, no DB, no matching lives in it.</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Two planes: REST bootstraps a screen, one SignalR hub keeps it live.</a:t>
            </a:r>
            <a:endParaRPr lang="en-US" sz="2000" dirty="0"/>
          </a:p>
          <a:p>
            <a:pPr marL="228600" indent="-228600">
              <a:lnSpc>
                <a:spcPct val="105000"/>
              </a:lnSpc>
              <a:spcBef>
                <a:spcPts val="1600"/>
              </a:spcBef>
              <a:buSzPct val="100000"/>
              <a:buChar char="•"/>
            </a:pPr>
            <a:r>
              <a:rPr lang="en-US" sz="2000" b="1" dirty="0">
                <a:solidFill>
                  <a:srgbClr val="E6ECF4"/>
                </a:solidFill>
                <a:latin typeface="Segoe UI" pitchFamily="34" charset="0"/>
                <a:ea typeface="Segoe UI" pitchFamily="34" charset="-122"/>
                <a:cs typeface="Segoe UI" pitchFamily="34" charset="-120"/>
              </a:rPr>
              <a:t>Market, Trade, Portfolio and the mood pane all read the same shared server.</a:t>
            </a:r>
            <a:endParaRPr lang="en-US" sz="2000" dirty="0"/>
          </a:p>
        </p:txBody>
      </p:sp>
      <p:sp>
        <p:nvSpPr>
          <p:cNvPr id="5" name="Shape 3"/>
          <p:cNvSpPr/>
          <p:nvPr/>
        </p:nvSpPr>
        <p:spPr>
          <a:xfrm>
            <a:off x="822960" y="5212080"/>
            <a:ext cx="10515600" cy="777240"/>
          </a:xfrm>
          <a:prstGeom prst="roundRect">
            <a:avLst>
              <a:gd name="adj" fmla="val 11765"/>
            </a:avLst>
          </a:prstGeom>
          <a:solidFill>
            <a:srgbClr val="182536"/>
          </a:solidFill>
          <a:ln w="12700">
            <a:solidFill>
              <a:srgbClr val="24344A"/>
            </a:solidFill>
            <a:prstDash val="solid"/>
          </a:ln>
        </p:spPr>
      </p:sp>
      <p:sp>
        <p:nvSpPr>
          <p:cNvPr id="6" name="Text 4"/>
          <p:cNvSpPr/>
          <p:nvPr/>
        </p:nvSpPr>
        <p:spPr>
          <a:xfrm>
            <a:off x="1051560" y="5212080"/>
            <a:ext cx="10058400" cy="777240"/>
          </a:xfrm>
          <a:prstGeom prst="rect">
            <a:avLst/>
          </a:prstGeom>
          <a:noFill/>
          <a:ln/>
        </p:spPr>
        <p:txBody>
          <a:bodyPr wrap="square" lIns="0" tIns="0" rIns="0" bIns="0" rtlCol="0" anchor="ctr"/>
          <a:lstStyle/>
          <a:p>
            <a:pPr indent="0" marL="0">
              <a:buNone/>
            </a:pPr>
            <a:r>
              <a:rPr lang="en-US" sz="1400" b="1" dirty="0">
                <a:solidFill>
                  <a:srgbClr val="F5B942"/>
                </a:solidFill>
                <a:latin typeface="Segoe UI" pitchFamily="34" charset="0"/>
                <a:ea typeface="Segoe UI" pitchFamily="34" charset="-122"/>
                <a:cs typeface="Segoe UI" pitchFamily="34" charset="-120"/>
              </a:rPr>
              <a:t>NEXT   </a:t>
            </a:r>
            <a:pPr indent="0" marL="0">
              <a:buNone/>
            </a:pPr>
            <a:r>
              <a:rPr lang="en-US" sz="1600" dirty="0">
                <a:solidFill>
                  <a:srgbClr val="E6ECF4"/>
                </a:solidFill>
                <a:latin typeface="Segoe UI" pitchFamily="34" charset="0"/>
                <a:ea typeface="Segoe UI" pitchFamily="34" charset="-122"/>
                <a:cs typeface="Segoe UI" pitchFamily="34" charset="-120"/>
              </a:rPr>
              <a:t>That's the whole product — click to conserved fill, and back to the screen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KieshStockExchange — Product Explainers</dc:title>
  <dc:subject>How the KieshStockExchange product works — the complete explainer</dc:subject>
  <dc:creator>KieshStockExchange</dc:creator>
  <cp:lastModifiedBy>KieshStockExchange</cp:lastModifiedBy>
  <cp:revision>1</cp:revision>
  <dcterms:created xsi:type="dcterms:W3CDTF">2026-07-16T13:03:24Z</dcterms:created>
  <dcterms:modified xsi:type="dcterms:W3CDTF">2026-07-16T13:03:24Z</dcterms:modified>
</cp:coreProperties>
</file>