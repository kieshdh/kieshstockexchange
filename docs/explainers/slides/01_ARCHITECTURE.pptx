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deck 1 of 7. It's the map: the projects, one order's journey, the shared seam, and the conservation invariant. Every other deck zooms into one stage of the pipeline shown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CLIENT→API→ENTRY→EXEC→MATCH→SETTLE→DB is the backbone. Architecture spans the whole strip; each later deck lights just its zone. Bots feed the same book from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bots exist so the market is never empty. A person signs up, gets seed cash, and trades into real bot flow. The realism (correlation, fat tails, Fear/Greed) is what makes the tape believable — that's BOT_MECHANICS.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named migration: EF schema migrations (Server/Data/Migrations) vs the SQLite→Postgres data-copy tool (KieshStockExchange.Migration). Keep them apart. The client head targets net9.0-windows; Shared targets net9.0.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product's spine. The bot loop submits through the same OrderExecutionService via batch routes, so bot flow and human flow converge at one book. SignalR keeps every screen live after the REST call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Phase-3 client/server split, the old in-process engine was removed without touching a single ViewModel — only the DI registration changed, because both sides program against the same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Reservations hold value in flight: Fund.ReservedBalance for buys, Position.ReservedQuantity for sells/shorts. Conservation is checked on money (per currency) and shares (per stock). This gets its full ledger reveal in the ENGINE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deck 2. The natural verbal bridge: we've seen the pipeline; now let's meet the 20,000 traders that keep it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6C784"/>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16C784"/>
                </a:solidFill>
                <a:latin typeface="Segoe UI" pitchFamily="34" charset="0"/>
                <a:ea typeface="Segoe UI" pitchFamily="34" charset="-122"/>
                <a:cs typeface="Segoe UI" pitchFamily="34" charset="-120"/>
              </a:rPr>
              <a:t>PRODUCT EXPLAINER · 1 OF 7 · START HERE</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The System Map</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A live stock-exchange simulation — ~20,000 trading bots, 50 stocks across 70 USD/EUR order books, a real matching engine, and a desktop client, all sharing one market.</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ARCHITECTURE.md   ·   read this first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YOU ARE HERE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order's journey — the spine of the whole product</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F5B942"/>
          </a:solidFill>
          <a:ln w="12700">
            <a:solidFill>
              <a:srgbClr val="F5B942"/>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F5B942"/>
          </a:solidFill>
          <a:ln w="12700">
            <a:solidFill>
              <a:srgbClr val="F5B942"/>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F5B942"/>
          </a:solidFill>
          <a:ln w="12700">
            <a:solidFill>
              <a:srgbClr val="F5B942"/>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F5B942"/>
          </a:solidFill>
          <a:ln w="12700">
            <a:solidFill>
              <a:srgbClr val="F5B942"/>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F5B942"/>
          </a:solidFill>
          <a:ln w="12700">
            <a:solidFill>
              <a:srgbClr val="F5B942"/>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F5B942"/>
          </a:solidFill>
          <a:ln w="12700">
            <a:solidFill>
              <a:srgbClr val="F5B942"/>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F5B942"/>
          </a:solidFill>
          <a:ln w="12700">
            <a:solidFill>
              <a:srgbClr val="F5B942"/>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After this deck you'll understand</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four projects and how they depend on each other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one order's path from click to conserved fill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why the client can be a thin skin over the server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CK = 0 conservation guarantee that never breaks</a:t>
            </a:r>
            <a:endParaRPr lang="en-US" sz="1400" dirty="0"/>
          </a:p>
        </p:txBody>
      </p:sp>
      <p:sp>
        <p:nvSpPr>
          <p:cNvPr id="32" name="Shape 30"/>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WHAT IT IS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living market, made by twenty thousand bots</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16C784"/>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20k</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trading bots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autonomous · ~1s decision loop</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16C784"/>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70</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order books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50 stocks, cross-listed USD + EUR</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16C784"/>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1</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shared engine</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bots + humans hit the same matcher</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16C784"/>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0</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conservation error</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Σ Δ proved zero before each commit</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The whole idea</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bots supply liquidity and a counterparty.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So a human order actually fills against a living market.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All authority lives in one server: engine, bots, API, DB.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client just renders and sends — it never matches.</a:t>
            </a:r>
            <a:endParaRPr lang="en-US" sz="1400" dirty="0"/>
          </a:p>
        </p:txBody>
      </p:sp>
      <p:sp>
        <p:nvSpPr>
          <p:cNvPr id="27" name="Shape 25"/>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9" name="Shape 27"/>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1" name="Shape 29"/>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2" name="Text 30"/>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3" name="Shape 31"/>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4" name="Text 32"/>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5" name="Shape 33"/>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6" name="Text 34"/>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7" name="Shape 35"/>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8" name="Text 36"/>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9" name="Shape 37"/>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0" name="Text 38"/>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PROJECTS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Server and client meet only through Shared</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MAUI Client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Views + ViewModels · thin skin</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0E9F6E"/>
          </a:solidFill>
          <a:ln w="12700">
            <a:solidFill>
              <a:srgbClr val="0E9F6E"/>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Shared — Models + interfaces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 hub both compile against</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Server — engine · 20k bots · API · host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 authoritative process</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Four projects</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Shared is the hub: Models + service interfaces.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Client and Server both depend on Shared — never on each other.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Server owns the engine, the fleet, the API, and all Postgres.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Plus a Migration data-tool and Python bot-seeding in Tools/.</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Detail: DATA_LAYER.md (persistence) · SERVER_HOST_AND_OPS.md (the host process)</a:t>
            </a:r>
            <a:endParaRPr lang="en-US" sz="1000" dirty="0"/>
          </a:p>
        </p:txBody>
      </p:sp>
      <p:sp>
        <p:nvSpPr>
          <p:cNvPr id="20" name="Shape 18"/>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LIFECYCLE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order: click to conserved fill, then everyone sees it</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Trade page → OrderController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IOrderEntryService over HTTP</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Entry → Execution</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reserve funds · batched tx</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Matching → Settlement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cross the book · Σ Δ = 0</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MarketHub push</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every client re-renders</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Click → fill → broadcast</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ViewModel calls an interface — the HTTP hop is invisible.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Four engine hops, each one job, each a clean handoff.</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Settlement proves conservation before every commit.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20k bots take the identical path — one shared matcher.</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The full worked numeric trace lives in ENGINE_MECHANICS.md §1.5</a:t>
            </a:r>
            <a:endParaRPr lang="en-US" sz="1000" dirty="0"/>
          </a:p>
        </p:txBody>
      </p:sp>
      <p:sp>
        <p:nvSpPr>
          <p:cNvPr id="23" name="Shape 21"/>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SEAM</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client is thin because the contract is shared</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ONE CONTRACT, TWO IMPLEMENTATIONS</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Shared/Models/*   (Order, Fund, Position…)</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serialized on server ─┐</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deserialized on client┘  same CLR types</a:t>
            </a:r>
            <a:endParaRPr lang="en-US" sz="1250" dirty="0"/>
          </a:p>
          <a:p>
            <a:pPr indent="0" marL="0">
              <a:lnSpc>
                <a:spcPct val="114000"/>
              </a:lnSpc>
              <a:buNone/>
            </a:pP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Shared/.../IOrderEntryService</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server → OrderEntryService  (real)</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client → ApiOrderEntryClient (proxy)</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Models + interfaces = the wire</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Models are the wire DTOs — no hand-kept mirror, no drift.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They carry invariants: a bad order can't even be constructed.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Interfaces are one contract; real impl vs HTTP-proxy impl.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That's why the in-process client engine was deleted for free.</a:t>
            </a:r>
            <a:endParaRPr lang="en-US" sz="1400" dirty="0"/>
          </a:p>
        </p:txBody>
      </p:sp>
      <p:sp>
        <p:nvSpPr>
          <p:cNvPr id="14" name="Shape 12"/>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5" name="Text 13"/>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6" name="Shape 14"/>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7" name="Text 15"/>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8" name="Shape 16"/>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19" name="Text 17"/>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0" name="Shape 18"/>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1" name="Text 19"/>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2" name="Shape 20"/>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4" name="Shape 22"/>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6" name="Shape 24"/>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A3943"/>
          </a:solidFill>
          <a:ln/>
        </p:spPr>
      </p:sp>
      <p:sp>
        <p:nvSpPr>
          <p:cNvPr id="3" name="Shape 1"/>
          <p:cNvSpPr/>
          <p:nvPr/>
        </p:nvSpPr>
        <p:spPr>
          <a:xfrm>
            <a:off x="457200" y="365760"/>
            <a:ext cx="512064" cy="512064"/>
          </a:xfrm>
          <a:prstGeom prst="roundRect">
            <a:avLst>
              <a:gd name="adj" fmla="val 12500"/>
            </a:avLst>
          </a:prstGeom>
          <a:solidFill>
            <a:srgbClr val="EA3943"/>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INVARIANT</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Trading moves value — it never creates or destroys it</a:t>
            </a:r>
            <a:endParaRPr lang="en-US" sz="2500" dirty="0"/>
          </a:p>
        </p:txBody>
      </p:sp>
      <p:sp>
        <p:nvSpPr>
          <p:cNvPr id="8" name="Shape 6"/>
          <p:cNvSpPr/>
          <p:nvPr/>
        </p:nvSpPr>
        <p:spPr>
          <a:xfrm>
            <a:off x="475488" y="1664208"/>
            <a:ext cx="914400" cy="0"/>
          </a:xfrm>
          <a:prstGeom prst="line">
            <a:avLst/>
          </a:prstGeom>
          <a:noFill/>
          <a:ln w="38100">
            <a:solidFill>
              <a:srgbClr val="EA3943"/>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CONSERVATION PROBE · PER BATCH</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300" dirty="0">
                <a:solidFill>
                  <a:srgbClr val="D8E0EC"/>
                </a:solidFill>
                <a:latin typeface="Consolas" pitchFamily="34" charset="0"/>
                <a:ea typeface="Consolas" pitchFamily="34" charset="-122"/>
                <a:cs typeface="Consolas" pitchFamily="34" charset="-120"/>
              </a:rPr>
              <a:t>before every commit:</a:t>
            </a:r>
            <a:endParaRPr lang="en-US" sz="1300" dirty="0"/>
          </a:p>
          <a:p>
            <a:pPr indent="0" marL="0">
              <a:lnSpc>
                <a:spcPct val="114000"/>
              </a:lnSpc>
              <a:buNone/>
            </a:pPr>
            <a:endParaRPr lang="en-US" sz="1300" dirty="0"/>
          </a:p>
          <a:p>
            <a:pPr indent="0" marL="0">
              <a:lnSpc>
                <a:spcPct val="114000"/>
              </a:lnSpc>
              <a:buNone/>
            </a:pPr>
            <a:r>
              <a:rPr lang="en-US" sz="1300" dirty="0">
                <a:solidFill>
                  <a:srgbClr val="7FE3AD"/>
                </a:solidFill>
                <a:latin typeface="Consolas" pitchFamily="34" charset="0"/>
                <a:ea typeface="Consolas" pitchFamily="34" charset="-122"/>
                <a:cs typeface="Consolas" pitchFamily="34" charset="-120"/>
              </a:rPr>
              <a:t>  Σ ΔTotalBalance == 0</a:t>
            </a:r>
            <a:endParaRPr lang="en-US" sz="1300" dirty="0"/>
          </a:p>
          <a:p>
            <a:pPr indent="0" marL="0">
              <a:lnSpc>
                <a:spcPct val="114000"/>
              </a:lnSpc>
              <a:buNone/>
            </a:pPr>
            <a:r>
              <a:rPr lang="en-US" sz="1300" dirty="0">
                <a:solidFill>
                  <a:srgbClr val="7FE3AD"/>
                </a:solidFill>
                <a:latin typeface="Consolas" pitchFamily="34" charset="0"/>
                <a:ea typeface="Consolas" pitchFamily="34" charset="-122"/>
                <a:cs typeface="Consolas" pitchFamily="34" charset="-120"/>
              </a:rPr>
              <a:t>  Σ ΔQuantity     == 0</a:t>
            </a:r>
            <a:endParaRPr lang="en-US" sz="1300" dirty="0"/>
          </a:p>
          <a:p>
            <a:pPr indent="0" marL="0">
              <a:lnSpc>
                <a:spcPct val="114000"/>
              </a:lnSpc>
              <a:buNone/>
            </a:pPr>
            <a:endParaRPr lang="en-US" sz="1300" dirty="0"/>
          </a:p>
          <a:p>
            <a:pPr indent="0" marL="0">
              <a:lnSpc>
                <a:spcPct val="114000"/>
              </a:lnSpc>
              <a:buNone/>
            </a:pPr>
            <a:r>
              <a:rPr lang="en-US" sz="1300" dirty="0">
                <a:solidFill>
                  <a:srgbClr val="F5A3A9"/>
                </a:solidFill>
                <a:latin typeface="Consolas" pitchFamily="34" charset="0"/>
                <a:ea typeface="Consolas" pitchFamily="34" charset="-122"/>
                <a:cs typeface="Consolas" pitchFamily="34" charset="-120"/>
              </a:rPr>
              <a:t>  one violation → soak FAILS</a:t>
            </a:r>
            <a:endParaRPr lang="en-US" sz="130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EA3943"/>
                </a:solidFill>
                <a:latin typeface="Segoe UI" pitchFamily="34" charset="0"/>
                <a:ea typeface="Segoe UI" pitchFamily="34" charset="-122"/>
                <a:cs typeface="Segoe UI" pitchFamily="34" charset="-120"/>
              </a:rPr>
              <a:t>Σ Δ = 0, always</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Value moves between accounts — the totals stay fixed.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Each settled batch is summed post-apply, pre-commit.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“CK = 0” means that error line never appears — the hard gate.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It's why 20k bots trade for days without the books drifting.</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Engine-side detail: ENGINE_MECHANICS.md §5</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097280"/>
            <a:ext cx="1005840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TAKEAWAYS</a:t>
            </a:r>
            <a:endParaRPr lang="en-US" sz="1300" dirty="0"/>
          </a:p>
        </p:txBody>
      </p:sp>
      <p:sp>
        <p:nvSpPr>
          <p:cNvPr id="4" name="Text 2"/>
          <p:cNvSpPr/>
          <p:nvPr/>
        </p:nvSpPr>
        <p:spPr>
          <a:xfrm>
            <a:off x="868680" y="1691640"/>
            <a:ext cx="10424160" cy="3017520"/>
          </a:xfrm>
          <a:prstGeom prst="rect">
            <a:avLst/>
          </a:prstGeom>
          <a:noFill/>
          <a:ln/>
        </p:spPr>
        <p:txBody>
          <a:bodyPr wrap="square" rtlCol="0" anchor="t"/>
          <a:lstStyle/>
          <a:p>
            <a:pPr marL="228600" indent="-228600">
              <a:lnSpc>
                <a:spcPct val="105000"/>
              </a:lnSpc>
              <a:buSzPct val="100000"/>
              <a:buChar char="•"/>
            </a:pPr>
            <a:r>
              <a:rPr lang="en-US" sz="2000" b="1" dirty="0">
                <a:solidFill>
                  <a:srgbClr val="E6ECF4"/>
                </a:solidFill>
                <a:latin typeface="Segoe UI" pitchFamily="34" charset="0"/>
                <a:ea typeface="Segoe UI" pitchFamily="34" charset="-122"/>
                <a:cs typeface="Segoe UI" pitchFamily="34" charset="-120"/>
              </a:rPr>
              <a:t>One shared order book; bots + humans meet at the same matcher.</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Four engine hops turn a click into a conserved, broadcast fill.</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Σ Δ = 0 is the invariant that makes days of trading trustworthy.</a:t>
            </a:r>
            <a:endParaRPr lang="en-US" sz="2000" dirty="0"/>
          </a:p>
        </p:txBody>
      </p:sp>
      <p:sp>
        <p:nvSpPr>
          <p:cNvPr id="5" name="Shape 3"/>
          <p:cNvSpPr/>
          <p:nvPr/>
        </p:nvSpPr>
        <p:spPr>
          <a:xfrm>
            <a:off x="822960" y="5212080"/>
            <a:ext cx="10515600" cy="777240"/>
          </a:xfrm>
          <a:prstGeom prst="roundRect">
            <a:avLst>
              <a:gd name="adj" fmla="val 11765"/>
            </a:avLst>
          </a:prstGeom>
          <a:solidFill>
            <a:srgbClr val="182536"/>
          </a:solidFill>
          <a:ln w="12700">
            <a:solidFill>
              <a:srgbClr val="24344A"/>
            </a:solidFill>
            <a:prstDash val="solid"/>
          </a:ln>
        </p:spPr>
      </p:sp>
      <p:sp>
        <p:nvSpPr>
          <p:cNvPr id="6" name="Text 4"/>
          <p:cNvSpPr/>
          <p:nvPr/>
        </p:nvSpPr>
        <p:spPr>
          <a:xfrm>
            <a:off x="1051560" y="5212080"/>
            <a:ext cx="10058400" cy="777240"/>
          </a:xfrm>
          <a:prstGeom prst="rect">
            <a:avLst/>
          </a:prstGeom>
          <a:noFill/>
          <a:ln/>
        </p:spPr>
        <p:txBody>
          <a:bodyPr wrap="square" lIns="0" tIns="0" rIns="0" bIns="0" rtlCol="0" anchor="ctr"/>
          <a:lstStyle/>
          <a:p>
            <a:pPr indent="0" marL="0">
              <a:buNone/>
            </a:pPr>
            <a:r>
              <a:rPr lang="en-US" sz="1400" b="1" dirty="0">
                <a:solidFill>
                  <a:srgbClr val="F5B942"/>
                </a:solidFill>
                <a:latin typeface="Segoe UI" pitchFamily="34" charset="0"/>
                <a:ea typeface="Segoe UI" pitchFamily="34" charset="-122"/>
                <a:cs typeface="Segoe UI" pitchFamily="34" charset="-120"/>
              </a:rPr>
              <a:t>NEXT   </a:t>
            </a:r>
            <a:pPr indent="0" marL="0">
              <a:buNone/>
            </a:pPr>
            <a:r>
              <a:rPr lang="en-US" sz="1600" dirty="0">
                <a:solidFill>
                  <a:srgbClr val="E6ECF4"/>
                </a:solidFill>
                <a:latin typeface="Segoe UI" pitchFamily="34" charset="0"/>
                <a:ea typeface="Segoe UI" pitchFamily="34" charset="-122"/>
                <a:cs typeface="Segoe UI" pitchFamily="34" charset="-120"/>
              </a:rPr>
              <a:t>BOT_MECHANICS — who places the orders, and why price moves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 Architecture: the system map</dc:title>
  <dc:subject>PptxGenJS Presentation</dc:subject>
  <dc:creator>KieshStockExchange</dc:creator>
  <cp:lastModifiedBy>KieshStockExchange</cp:lastModifiedBy>
  <cp:revision>1</cp:revision>
  <dcterms:created xsi:type="dcterms:W3CDTF">2026-07-16T12:34:38Z</dcterms:created>
  <dcterms:modified xsi:type="dcterms:W3CDTF">2026-07-16T12:34:38Z</dcterms:modified>
</cp:coreProperties>
</file>